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embeddedFontLst>
    <p:embeddedFont>
      <p:font typeface="MiSans" panose="02010600030101010101" charset="-122"/>
      <p:regular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panel"/>
          <p:cNvSpPr/>
          <p:nvPr/>
        </p:nvSpPr>
        <p:spPr>
          <a:xfrm>
            <a:off x="6350000" y="0"/>
            <a:ext cx="5842000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</p:sp>
      <p:pic>
        <p:nvPicPr>
          <p:cNvPr id="3" name="waterfall-image"/>
          <p:cNvPicPr/>
          <p:nvPr/>
        </p:nvPicPr>
        <p:blipFill>
          <a:blip r:embed="rId2"/>
          <a:srcRect l="28329" r="28329"/>
          <a:stretch>
            <a:fillRect/>
          </a:stretch>
        </p:blipFill>
        <p:spPr>
          <a:xfrm>
            <a:off x="6430065" y="-133074"/>
            <a:ext cx="5842000" cy="6858000"/>
          </a:xfrm>
          <a:prstGeom prst="rect">
            <a:avLst/>
          </a:prstGeom>
          <a:ln>
            <a:noFill/>
          </a:ln>
        </p:spPr>
      </p:pic>
      <p:sp>
        <p:nvSpPr>
          <p:cNvPr id="5" name="purple-spine"/>
          <p:cNvSpPr/>
          <p:nvPr/>
        </p:nvSpPr>
        <p:spPr>
          <a:xfrm>
            <a:off x="6197600" y="0"/>
            <a:ext cx="1524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6" name="grid-v1"/>
          <p:cNvSpPr/>
          <p:nvPr/>
        </p:nvSpPr>
        <p:spPr>
          <a:xfrm>
            <a:off x="69342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7" name="grid-v2"/>
          <p:cNvSpPr/>
          <p:nvPr/>
        </p:nvSpPr>
        <p:spPr>
          <a:xfrm>
            <a:off x="75184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8" name="grid-v3"/>
          <p:cNvSpPr/>
          <p:nvPr/>
        </p:nvSpPr>
        <p:spPr>
          <a:xfrm>
            <a:off x="81026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9" name="grid-v4"/>
          <p:cNvSpPr/>
          <p:nvPr/>
        </p:nvSpPr>
        <p:spPr>
          <a:xfrm>
            <a:off x="86868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0" name="grid-v5"/>
          <p:cNvSpPr/>
          <p:nvPr/>
        </p:nvSpPr>
        <p:spPr>
          <a:xfrm>
            <a:off x="92710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1" name="grid-v6"/>
          <p:cNvSpPr/>
          <p:nvPr/>
        </p:nvSpPr>
        <p:spPr>
          <a:xfrm>
            <a:off x="98552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2" name="grid-v7"/>
          <p:cNvSpPr/>
          <p:nvPr/>
        </p:nvSpPr>
        <p:spPr>
          <a:xfrm>
            <a:off x="104394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3" name="grid-v8"/>
          <p:cNvSpPr/>
          <p:nvPr/>
        </p:nvSpPr>
        <p:spPr>
          <a:xfrm>
            <a:off x="110236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4" name="grid-v9"/>
          <p:cNvSpPr/>
          <p:nvPr/>
        </p:nvSpPr>
        <p:spPr>
          <a:xfrm>
            <a:off x="11607800" y="0"/>
            <a:ext cx="127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5" name="grid-h1"/>
          <p:cNvSpPr/>
          <p:nvPr/>
        </p:nvSpPr>
        <p:spPr>
          <a:xfrm>
            <a:off x="6350000" y="6858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grid-h2"/>
          <p:cNvSpPr/>
          <p:nvPr/>
        </p:nvSpPr>
        <p:spPr>
          <a:xfrm>
            <a:off x="6350000" y="13716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7" name="grid-h3"/>
          <p:cNvSpPr/>
          <p:nvPr/>
        </p:nvSpPr>
        <p:spPr>
          <a:xfrm>
            <a:off x="6350000" y="20574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8" name="grid-h4"/>
          <p:cNvSpPr/>
          <p:nvPr/>
        </p:nvSpPr>
        <p:spPr>
          <a:xfrm>
            <a:off x="6350000" y="27432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9" name="grid-h5"/>
          <p:cNvSpPr/>
          <p:nvPr/>
        </p:nvSpPr>
        <p:spPr>
          <a:xfrm>
            <a:off x="6350000" y="34290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0" name="grid-h6"/>
          <p:cNvSpPr/>
          <p:nvPr/>
        </p:nvSpPr>
        <p:spPr>
          <a:xfrm>
            <a:off x="6350000" y="41148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1" name="grid-h7"/>
          <p:cNvSpPr/>
          <p:nvPr/>
        </p:nvSpPr>
        <p:spPr>
          <a:xfrm>
            <a:off x="6350000" y="48006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2" name="grid-h8"/>
          <p:cNvSpPr/>
          <p:nvPr/>
        </p:nvSpPr>
        <p:spPr>
          <a:xfrm>
            <a:off x="6350000" y="54864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3" name="grid-h9"/>
          <p:cNvSpPr/>
          <p:nvPr/>
        </p:nvSpPr>
        <p:spPr>
          <a:xfrm>
            <a:off x="6350000" y="6172200"/>
            <a:ext cx="584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7" name="kicker"/>
          <p:cNvSpPr txBox="1"/>
          <p:nvPr/>
        </p:nvSpPr>
        <p:spPr>
          <a:xfrm>
            <a:off x="762000" y="9906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kern="0" spc="200" noProof="1">
                <a:solidFill>
                  <a:srgbClr val="38BDF8"/>
                </a:solidFill>
                <a:latin typeface="MiSans"/>
                <a:ea typeface="MiSans"/>
              </a:rPr>
              <a:t>SOFTWARE ENGINEERING PROJECT</a:t>
            </a:r>
            <a:endParaRPr lang="en-US" sz="1200" noProof="1"/>
          </a:p>
        </p:txBody>
      </p:sp>
      <p:sp>
        <p:nvSpPr>
          <p:cNvPr id="28" name="main-title"/>
          <p:cNvSpPr txBox="1"/>
          <p:nvPr/>
        </p:nvSpPr>
        <p:spPr>
          <a:xfrm>
            <a:off x="762000" y="15875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noProof="1">
                <a:solidFill>
                  <a:srgbClr val="F8FAFC"/>
                </a:solidFill>
                <a:latin typeface="MiSans"/>
                <a:ea typeface="MiSans"/>
              </a:rPr>
              <a:t>Meiti Shangcheng</a:t>
            </a:r>
            <a:endParaRPr lang="en-US" sz="4200" noProof="1"/>
          </a:p>
        </p:txBody>
      </p:sp>
      <p:sp>
        <p:nvSpPr>
          <p:cNvPr id="29" name="subtitle"/>
          <p:cNvSpPr txBox="1"/>
          <p:nvPr/>
        </p:nvSpPr>
        <p:spPr>
          <a:xfrm>
            <a:off x="762000" y="2692400"/>
            <a:ext cx="51435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000" b="1" noProof="1">
                <a:solidFill>
                  <a:srgbClr val="F8FAFC"/>
                </a:solidFill>
                <a:latin typeface="MiSans"/>
                <a:ea typeface="MiSans"/>
              </a:rPr>
              <a:t>Employee Management
and Shift Scheduling</a:t>
            </a:r>
            <a:endParaRPr lang="en-US" sz="3000" noProof="1"/>
          </a:p>
        </p:txBody>
      </p:sp>
      <p:sp>
        <p:nvSpPr>
          <p:cNvPr id="30" name="final"/>
          <p:cNvSpPr txBox="1"/>
          <p:nvPr/>
        </p:nvSpPr>
        <p:spPr>
          <a:xfrm>
            <a:off x="762000" y="4533900"/>
            <a:ext cx="406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Final Presentation</a:t>
            </a:r>
            <a:endParaRPr lang="en-US" sz="1700" noProof="1"/>
          </a:p>
        </p:txBody>
      </p:sp>
      <p:sp>
        <p:nvSpPr>
          <p:cNvPr id="31" name="meta"/>
          <p:cNvSpPr txBox="1"/>
          <p:nvPr/>
        </p:nvSpPr>
        <p:spPr>
          <a:xfrm>
            <a:off x="762000" y="5715000"/>
            <a:ext cx="5207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00" noProof="1">
                <a:solidFill>
                  <a:srgbClr val="64748B"/>
                </a:solidFill>
                <a:latin typeface="MiSans"/>
                <a:ea typeface="MiSans"/>
              </a:rPr>
              <a:t>Fontys and ZZULI · Group Project
October 2026</a:t>
            </a:r>
            <a:endParaRPr lang="en-US" sz="1100" noProof="1"/>
          </a:p>
        </p:txBody>
      </p:sp>
      <p:sp>
        <p:nvSpPr>
          <p:cNvPr id="32" name="page-no"/>
          <p:cNvSpPr txBox="1"/>
          <p:nvPr/>
        </p:nvSpPr>
        <p:spPr>
          <a:xfrm>
            <a:off x="10795000" y="6096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Background and problem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BACKGROUND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02</a:t>
            </a:r>
            <a:endParaRPr lang="en-US" sz="1000" noProof="1"/>
          </a:p>
        </p:txBody>
      </p:sp>
      <p:sp>
        <p:nvSpPr>
          <p:cNvPr id="6" name="goal-block"/>
          <p:cNvSpPr/>
          <p:nvPr/>
        </p:nvSpPr>
        <p:spPr>
          <a:xfrm>
            <a:off x="609600" y="1625600"/>
            <a:ext cx="4318000" cy="381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7" name="goal-title"/>
          <p:cNvSpPr txBox="1"/>
          <p:nvPr/>
        </p:nvSpPr>
        <p:spPr>
          <a:xfrm>
            <a:off x="952500" y="2095500"/>
            <a:ext cx="36195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000" b="1" noProof="1">
                <a:solidFill>
                  <a:srgbClr val="F8FAFC"/>
                </a:solidFill>
                <a:latin typeface="MiSans"/>
                <a:ea typeface="MiSans"/>
              </a:rPr>
              <a:t>A central system
before opening</a:t>
            </a:r>
            <a:endParaRPr lang="en-US" sz="3000" noProof="1"/>
          </a:p>
        </p:txBody>
      </p:sp>
      <p:sp>
        <p:nvSpPr>
          <p:cNvPr id="8" name="goal-sub"/>
          <p:cNvSpPr txBox="1"/>
          <p:nvPr/>
        </p:nvSpPr>
        <p:spPr>
          <a:xfrm>
            <a:off x="952500" y="4254500"/>
            <a:ext cx="3556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8FAFC"/>
                </a:solidFill>
                <a:latin typeface="MiSans"/>
                <a:ea typeface="MiSans"/>
              </a:rPr>
              <a:t>New Zhengzhou store</a:t>
            </a:r>
            <a:endParaRPr lang="en-US" sz="1600" noProof="1"/>
          </a:p>
        </p:txBody>
      </p:sp>
      <p:sp>
        <p:nvSpPr>
          <p:cNvPr id="9" name="goal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eyJpY29uTmFtZSI6ImZhczpzaG9wIn0</pptd:icon>
              </p:ext>
            </p:extLst>
          </p:nvPr>
        </p:nvSpPr>
        <p:spPr>
          <a:xfrm>
            <a:off x="3810000" y="4508500"/>
            <a:ext cx="698500" cy="698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" y="181"/>
                </a:moveTo>
                <a:lnTo>
                  <a:pt x="78" y="67"/>
                </a:lnTo>
                <a:cubicBezTo>
                  <a:pt x="89" y="46"/>
                  <a:pt x="111" y="32"/>
                  <a:pt x="136" y="32"/>
                </a:cubicBezTo>
                <a:lnTo>
                  <a:pt x="441" y="32"/>
                </a:lnTo>
                <a:cubicBezTo>
                  <a:pt x="465" y="32"/>
                  <a:pt x="487" y="46"/>
                  <a:pt x="498" y="67"/>
                </a:cubicBezTo>
                <a:lnTo>
                  <a:pt x="555" y="181"/>
                </a:lnTo>
                <a:cubicBezTo>
                  <a:pt x="558" y="188"/>
                  <a:pt x="560" y="196"/>
                  <a:pt x="560" y="204"/>
                </a:cubicBezTo>
                <a:cubicBezTo>
                  <a:pt x="560" y="232"/>
                  <a:pt x="539" y="254"/>
                  <a:pt x="512" y="256"/>
                </a:cubicBezTo>
                <a:lnTo>
                  <a:pt x="512" y="448"/>
                </a:lnTo>
                <a:cubicBezTo>
                  <a:pt x="512" y="466"/>
                  <a:pt x="498" y="480"/>
                  <a:pt x="480" y="480"/>
                </a:cubicBezTo>
                <a:cubicBezTo>
                  <a:pt x="462" y="480"/>
                  <a:pt x="448" y="466"/>
                  <a:pt x="448" y="448"/>
                </a:cubicBezTo>
                <a:lnTo>
                  <a:pt x="448" y="256"/>
                </a:lnTo>
                <a:lnTo>
                  <a:pt x="352" y="256"/>
                </a:lnTo>
                <a:lnTo>
                  <a:pt x="352" y="432"/>
                </a:lnTo>
                <a:cubicBezTo>
                  <a:pt x="352" y="459"/>
                  <a:pt x="331" y="480"/>
                  <a:pt x="304" y="480"/>
                </a:cubicBezTo>
                <a:lnTo>
                  <a:pt x="112" y="480"/>
                </a:lnTo>
                <a:cubicBezTo>
                  <a:pt x="86" y="480"/>
                  <a:pt x="64" y="459"/>
                  <a:pt x="64" y="432"/>
                </a:cubicBezTo>
                <a:lnTo>
                  <a:pt x="64" y="256"/>
                </a:lnTo>
                <a:cubicBezTo>
                  <a:pt x="37" y="254"/>
                  <a:pt x="16" y="232"/>
                  <a:pt x="16" y="204"/>
                </a:cubicBezTo>
                <a:cubicBezTo>
                  <a:pt x="16" y="196"/>
                  <a:pt x="18" y="188"/>
                  <a:pt x="22" y="181"/>
                </a:cubicBezTo>
                <a:close/>
                <a:moveTo>
                  <a:pt x="128" y="256"/>
                </a:moveTo>
                <a:lnTo>
                  <a:pt x="128" y="368"/>
                </a:lnTo>
                <a:cubicBezTo>
                  <a:pt x="128" y="377"/>
                  <a:pt x="135" y="384"/>
                  <a:pt x="144" y="384"/>
                </a:cubicBezTo>
                <a:lnTo>
                  <a:pt x="272" y="384"/>
                </a:lnTo>
                <a:cubicBezTo>
                  <a:pt x="281" y="384"/>
                  <a:pt x="288" y="377"/>
                  <a:pt x="288" y="368"/>
                </a:cubicBezTo>
                <a:lnTo>
                  <a:pt x="288" y="256"/>
                </a:lnTo>
                <a:lnTo>
                  <a:pt x="128" y="256"/>
                </a:ln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10" name="issue-n0"/>
          <p:cNvSpPr txBox="1"/>
          <p:nvPr/>
        </p:nvSpPr>
        <p:spPr>
          <a:xfrm>
            <a:off x="5588000" y="15875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11" name="issue-t0"/>
          <p:cNvSpPr txBox="1"/>
          <p:nvPr/>
        </p:nvSpPr>
        <p:spPr>
          <a:xfrm>
            <a:off x="6286500" y="15875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Scattered records</a:t>
            </a:r>
            <a:endParaRPr lang="en-US" sz="2000" noProof="1"/>
          </a:p>
        </p:txBody>
      </p:sp>
      <p:sp>
        <p:nvSpPr>
          <p:cNvPr id="12" name="issue-b0"/>
          <p:cNvSpPr txBox="1"/>
          <p:nvPr/>
        </p:nvSpPr>
        <p:spPr>
          <a:xfrm>
            <a:off x="6286500" y="19685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Employee information is spread across files.</a:t>
            </a:r>
            <a:endParaRPr lang="en-US" sz="1300" noProof="1"/>
          </a:p>
        </p:txBody>
      </p:sp>
      <p:sp>
        <p:nvSpPr>
          <p:cNvPr id="13" name="issue-line0"/>
          <p:cNvSpPr/>
          <p:nvPr/>
        </p:nvSpPr>
        <p:spPr>
          <a:xfrm>
            <a:off x="5588000" y="24384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issue-n1"/>
          <p:cNvSpPr txBox="1"/>
          <p:nvPr/>
        </p:nvSpPr>
        <p:spPr>
          <a:xfrm>
            <a:off x="5588000" y="26289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5" name="issue-t1"/>
          <p:cNvSpPr txBox="1"/>
          <p:nvPr/>
        </p:nvSpPr>
        <p:spPr>
          <a:xfrm>
            <a:off x="6286500" y="26289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Slow manual checking</a:t>
            </a:r>
            <a:endParaRPr lang="en-US" sz="2000" noProof="1"/>
          </a:p>
        </p:txBody>
      </p:sp>
      <p:sp>
        <p:nvSpPr>
          <p:cNvPr id="16" name="issue-b1"/>
          <p:cNvSpPr txBox="1"/>
          <p:nvPr/>
        </p:nvSpPr>
        <p:spPr>
          <a:xfrm>
            <a:off x="6286500" y="30099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Weekly overviews require repeated work.</a:t>
            </a:r>
            <a:endParaRPr lang="en-US" sz="1300" noProof="1"/>
          </a:p>
        </p:txBody>
      </p:sp>
      <p:sp>
        <p:nvSpPr>
          <p:cNvPr id="17" name="issue-line1"/>
          <p:cNvSpPr/>
          <p:nvPr/>
        </p:nvSpPr>
        <p:spPr>
          <a:xfrm>
            <a:off x="5588000" y="34798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issue-n2"/>
          <p:cNvSpPr txBox="1"/>
          <p:nvPr/>
        </p:nvSpPr>
        <p:spPr>
          <a:xfrm>
            <a:off x="5588000" y="36703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9" name="issue-t2"/>
          <p:cNvSpPr txBox="1"/>
          <p:nvPr/>
        </p:nvSpPr>
        <p:spPr>
          <a:xfrm>
            <a:off x="6286500" y="36703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Excel schedules</a:t>
            </a:r>
            <a:endParaRPr lang="en-US" sz="2000" noProof="1"/>
          </a:p>
        </p:txBody>
      </p:sp>
      <p:sp>
        <p:nvSpPr>
          <p:cNvPr id="20" name="issue-b2"/>
          <p:cNvSpPr txBox="1"/>
          <p:nvPr/>
        </p:nvSpPr>
        <p:spPr>
          <a:xfrm>
            <a:off x="6286500" y="40513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Online calendars and sheets are hard to maintain.</a:t>
            </a:r>
            <a:endParaRPr lang="en-US" sz="1300" noProof="1"/>
          </a:p>
        </p:txBody>
      </p:sp>
      <p:sp>
        <p:nvSpPr>
          <p:cNvPr id="21" name="issue-line2"/>
          <p:cNvSpPr/>
          <p:nvPr/>
        </p:nvSpPr>
        <p:spPr>
          <a:xfrm>
            <a:off x="5588000" y="45212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issue-n3"/>
          <p:cNvSpPr txBox="1"/>
          <p:nvPr/>
        </p:nvSpPr>
        <p:spPr>
          <a:xfrm>
            <a:off x="5588000" y="47117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4F46E5"/>
                </a:solidFill>
                <a:latin typeface="MiSans"/>
                <a:ea typeface="MiSans"/>
              </a:rPr>
              <a:t>04</a:t>
            </a:r>
            <a:endParaRPr lang="en-US" sz="1300" noProof="1"/>
          </a:p>
        </p:txBody>
      </p:sp>
      <p:sp>
        <p:nvSpPr>
          <p:cNvPr id="23" name="issue-t3"/>
          <p:cNvSpPr txBox="1"/>
          <p:nvPr/>
        </p:nvSpPr>
        <p:spPr>
          <a:xfrm>
            <a:off x="6286500" y="47117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Missed changes and conflicts</a:t>
            </a:r>
            <a:endParaRPr lang="en-US" sz="2000" noProof="1"/>
          </a:p>
        </p:txBody>
      </p:sp>
      <p:sp>
        <p:nvSpPr>
          <p:cNvPr id="24" name="issue-b3"/>
          <p:cNvSpPr txBox="1"/>
          <p:nvPr/>
        </p:nvSpPr>
        <p:spPr>
          <a:xfrm>
            <a:off x="6286500" y="50927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Updates can be lost or overwritten.</a:t>
            </a:r>
            <a:endParaRPr lang="en-US" sz="1300" noProof="1"/>
          </a:p>
        </p:txBody>
      </p:sp>
      <p:sp>
        <p:nvSpPr>
          <p:cNvPr id="25" name="issue-line3"/>
          <p:cNvSpPr/>
          <p:nvPr/>
        </p:nvSpPr>
        <p:spPr>
          <a:xfrm>
            <a:off x="5588000" y="5562600"/>
            <a:ext cx="5778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Project goal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GOAL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03</a:t>
            </a:r>
            <a:endParaRPr lang="en-US" sz="1000" noProof="1"/>
          </a:p>
        </p:txBody>
      </p:sp>
      <p:sp>
        <p:nvSpPr>
          <p:cNvPr id="6" name="scope"/>
          <p:cNvSpPr/>
          <p:nvPr/>
        </p:nvSpPr>
        <p:spPr>
          <a:xfrm>
            <a:off x="609600" y="1625600"/>
            <a:ext cx="6350000" cy="381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7" name="scope-label"/>
          <p:cNvSpPr txBox="1"/>
          <p:nvPr/>
        </p:nvSpPr>
        <p:spPr>
          <a:xfrm>
            <a:off x="990600" y="2006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kern="0" spc="150" noProof="1">
                <a:solidFill>
                  <a:srgbClr val="38BDF8"/>
                </a:solidFill>
                <a:latin typeface="MiSans"/>
                <a:ea typeface="MiSans"/>
              </a:rPr>
              <a:t>CORE DELIVERY</a:t>
            </a:r>
            <a:endParaRPr lang="en-US" sz="1200" noProof="1"/>
          </a:p>
        </p:txBody>
      </p:sp>
      <p:sp>
        <p:nvSpPr>
          <p:cNvPr id="8" name="scope-text"/>
          <p:cNvSpPr txBox="1"/>
          <p:nvPr/>
        </p:nvSpPr>
        <p:spPr>
          <a:xfrm>
            <a:off x="990600" y="26035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3200" b="1" noProof="1">
                <a:solidFill>
                  <a:srgbClr val="F8FAFC"/>
                </a:solidFill>
                <a:latin typeface="MiSans"/>
                <a:ea typeface="MiSans"/>
              </a:rPr>
              <a:t>Employee records
+ manual scheduling</a:t>
            </a:r>
            <a:endParaRPr lang="en-US" sz="3200" noProof="1"/>
          </a:p>
        </p:txBody>
      </p:sp>
      <p:sp>
        <p:nvSpPr>
          <p:cNvPr id="9" name="scope-note"/>
          <p:cNvSpPr txBox="1"/>
          <p:nvPr/>
        </p:nvSpPr>
        <p:spPr>
          <a:xfrm>
            <a:off x="990600" y="45085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A focused administrative baseline</a:t>
            </a:r>
            <a:endParaRPr lang="en-US" sz="1500" noProof="1"/>
          </a:p>
        </p:txBody>
      </p:sp>
      <p:sp>
        <p:nvSpPr>
          <p:cNvPr id="10" name="100"/>
          <p:cNvSpPr txBox="1"/>
          <p:nvPr/>
        </p:nvSpPr>
        <p:spPr>
          <a:xfrm>
            <a:off x="7747000" y="1651000"/>
            <a:ext cx="2413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b="1" noProof="1">
                <a:solidFill>
                  <a:srgbClr val="4F46E5"/>
                </a:solidFill>
                <a:latin typeface="MiSans"/>
                <a:ea typeface="MiSans"/>
              </a:rPr>
              <a:t>100</a:t>
            </a:r>
            <a:endParaRPr lang="en-US" sz="6400" noProof="1"/>
          </a:p>
        </p:txBody>
      </p:sp>
      <p:sp>
        <p:nvSpPr>
          <p:cNvPr id="11" name="employees"/>
          <p:cNvSpPr txBox="1"/>
          <p:nvPr/>
        </p:nvSpPr>
        <p:spPr>
          <a:xfrm>
            <a:off x="7747000" y="2768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F172A"/>
                </a:solidFill>
                <a:latin typeface="MiSans"/>
                <a:ea typeface="MiSans"/>
              </a:rPr>
              <a:t>employees</a:t>
            </a:r>
            <a:endParaRPr lang="en-US" sz="2000" noProof="1"/>
          </a:p>
        </p:txBody>
      </p:sp>
      <p:sp>
        <p:nvSpPr>
          <p:cNvPr id="12" name="capacity"/>
          <p:cNvSpPr txBox="1"/>
          <p:nvPr/>
        </p:nvSpPr>
        <p:spPr>
          <a:xfrm>
            <a:off x="7747000" y="3175000"/>
            <a:ext cx="3175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Design capacity</a:t>
            </a:r>
            <a:endParaRPr lang="en-US" sz="1400" noProof="1"/>
          </a:p>
        </p:txBody>
      </p:sp>
      <p:sp>
        <p:nvSpPr>
          <p:cNvPr id="13" name="metric-line"/>
          <p:cNvSpPr/>
          <p:nvPr/>
        </p:nvSpPr>
        <p:spPr>
          <a:xfrm>
            <a:off x="7747000" y="3708400"/>
            <a:ext cx="3492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5"/>
          <p:cNvSpPr txBox="1"/>
          <p:nvPr/>
        </p:nvSpPr>
        <p:spPr>
          <a:xfrm>
            <a:off x="7747000" y="4000500"/>
            <a:ext cx="127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400" b="1" noProof="1">
                <a:solidFill>
                  <a:srgbClr val="4F46E5"/>
                </a:solidFill>
                <a:latin typeface="MiSans"/>
                <a:ea typeface="MiSans"/>
              </a:rPr>
              <a:t>5</a:t>
            </a:r>
            <a:endParaRPr lang="en-US" sz="5400" noProof="1"/>
          </a:p>
        </p:txBody>
      </p:sp>
      <p:sp>
        <p:nvSpPr>
          <p:cNvPr id="15" name="users"/>
          <p:cNvSpPr txBox="1"/>
          <p:nvPr/>
        </p:nvSpPr>
        <p:spPr>
          <a:xfrm>
            <a:off x="9017000" y="41275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concurrent users</a:t>
            </a:r>
            <a:endParaRPr lang="en-US" sz="1800" noProof="1"/>
          </a:p>
        </p:txBody>
      </p:sp>
      <p:sp>
        <p:nvSpPr>
          <p:cNvPr id="16" name="verify"/>
          <p:cNvSpPr txBox="1"/>
          <p:nvPr/>
        </p:nvSpPr>
        <p:spPr>
          <a:xfrm>
            <a:off x="9017000" y="4572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Target to verify</a:t>
            </a:r>
            <a:endParaRPr lang="en-US" sz="1400" noProof="1"/>
          </a:p>
        </p:txBody>
      </p:sp>
      <p:sp>
        <p:nvSpPr>
          <p:cNvPr id="17" name="caution"/>
          <p:cNvSpPr txBox="1"/>
          <p:nvPr/>
        </p:nvSpPr>
        <p:spPr>
          <a:xfrm>
            <a:off x="609600" y="5816600"/>
            <a:ext cx="1079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Capacity figures are design targets, not reported test results.</a:t>
            </a:r>
            <a:endParaRPr lang="en-US" sz="13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Employee management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OUR SOLUTION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04</a:t>
            </a:r>
            <a:endParaRPr lang="en-US" sz="1000" noProof="1"/>
          </a:p>
        </p:txBody>
      </p:sp>
      <p:sp>
        <p:nvSpPr>
          <p:cNvPr id="6" name="step-n0"/>
          <p:cNvSpPr txBox="1"/>
          <p:nvPr/>
        </p:nvSpPr>
        <p:spPr>
          <a:xfrm>
            <a:off x="6985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7" name="step-i0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eyJpY29uTmFtZSI6ImZhczpwbHVzIn0</pptd:icon>
              </p:ext>
            </p:extLst>
          </p:nvPr>
        </p:nvSpPr>
        <p:spPr>
          <a:xfrm>
            <a:off x="6985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56" y="64"/>
                </a:moveTo>
                <a:cubicBezTo>
                  <a:pt x="256" y="46"/>
                  <a:pt x="242" y="32"/>
                  <a:pt x="224" y="32"/>
                </a:cubicBezTo>
                <a:cubicBezTo>
                  <a:pt x="206" y="32"/>
                  <a:pt x="192" y="46"/>
                  <a:pt x="192" y="64"/>
                </a:cubicBezTo>
                <a:lnTo>
                  <a:pt x="192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192" y="288"/>
                </a:lnTo>
                <a:lnTo>
                  <a:pt x="192" y="448"/>
                </a:lnTo>
                <a:cubicBezTo>
                  <a:pt x="192" y="466"/>
                  <a:pt x="206" y="480"/>
                  <a:pt x="224" y="480"/>
                </a:cubicBezTo>
                <a:cubicBezTo>
                  <a:pt x="242" y="480"/>
                  <a:pt x="256" y="466"/>
                  <a:pt x="256" y="448"/>
                </a:cubicBezTo>
                <a:lnTo>
                  <a:pt x="256" y="288"/>
                </a:lnTo>
                <a:lnTo>
                  <a:pt x="416" y="288"/>
                </a:lnTo>
                <a:cubicBezTo>
                  <a:pt x="434" y="288"/>
                  <a:pt x="448" y="274"/>
                  <a:pt x="448" y="256"/>
                </a:cubicBezTo>
                <a:cubicBezTo>
                  <a:pt x="448" y="238"/>
                  <a:pt x="434" y="224"/>
                  <a:pt x="416" y="224"/>
                </a:cubicBezTo>
                <a:lnTo>
                  <a:pt x="256" y="224"/>
                </a:lnTo>
                <a:lnTo>
                  <a:pt x="256" y="64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8" name="step-l0"/>
          <p:cNvSpPr txBox="1"/>
          <p:nvPr/>
        </p:nvSpPr>
        <p:spPr>
          <a:xfrm>
            <a:off x="12065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Add</a:t>
            </a:r>
            <a:endParaRPr lang="en-US" sz="2100" noProof="1"/>
          </a:p>
        </p:txBody>
      </p:sp>
      <p:sp>
        <p:nvSpPr>
          <p:cNvPr id="9" name="step-line0"/>
          <p:cNvSpPr/>
          <p:nvPr/>
        </p:nvSpPr>
        <p:spPr>
          <a:xfrm>
            <a:off x="6985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step-n1"/>
          <p:cNvSpPr txBox="1"/>
          <p:nvPr/>
        </p:nvSpPr>
        <p:spPr>
          <a:xfrm>
            <a:off x="29083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1" name="step-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eyJpY29uTmFtZSI6ImZhczptYWduaWZ5aW5nLWdsYXNzIn0</pptd:icon>
              </p:ext>
            </p:extLst>
          </p:nvPr>
        </p:nvSpPr>
        <p:spPr>
          <a:xfrm>
            <a:off x="29083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2" name="step-l1"/>
          <p:cNvSpPr txBox="1"/>
          <p:nvPr/>
        </p:nvSpPr>
        <p:spPr>
          <a:xfrm>
            <a:off x="34163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Find</a:t>
            </a:r>
            <a:endParaRPr lang="en-US" sz="2100" noProof="1"/>
          </a:p>
        </p:txBody>
      </p:sp>
      <p:sp>
        <p:nvSpPr>
          <p:cNvPr id="13" name="step-line1"/>
          <p:cNvSpPr/>
          <p:nvPr/>
        </p:nvSpPr>
        <p:spPr>
          <a:xfrm>
            <a:off x="29083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step-n2"/>
          <p:cNvSpPr txBox="1"/>
          <p:nvPr/>
        </p:nvSpPr>
        <p:spPr>
          <a:xfrm>
            <a:off x="51181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5" name="step-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eyJpY29uTmFtZSI6ImZhczpleWUifQ</pptd:icon>
              </p:ext>
            </p:extLst>
          </p:nvPr>
        </p:nvSpPr>
        <p:spPr>
          <a:xfrm>
            <a:off x="51181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32"/>
                </a:moveTo>
                <a:cubicBezTo>
                  <a:pt x="207" y="32"/>
                  <a:pt x="143" y="69"/>
                  <a:pt x="95" y="113"/>
                </a:cubicBezTo>
                <a:cubicBezTo>
                  <a:pt x="49" y="156"/>
                  <a:pt x="17" y="208"/>
                  <a:pt x="2" y="244"/>
                </a:cubicBezTo>
                <a:cubicBezTo>
                  <a:pt x="-1" y="252"/>
                  <a:pt x="-1" y="260"/>
                  <a:pt x="2" y="268"/>
                </a:cubicBezTo>
                <a:cubicBezTo>
                  <a:pt x="17" y="304"/>
                  <a:pt x="49" y="356"/>
                  <a:pt x="95" y="399"/>
                </a:cubicBezTo>
                <a:cubicBezTo>
                  <a:pt x="143" y="443"/>
                  <a:pt x="207" y="480"/>
                  <a:pt x="288" y="480"/>
                </a:cubicBezTo>
                <a:cubicBezTo>
                  <a:pt x="369" y="480"/>
                  <a:pt x="434" y="443"/>
                  <a:pt x="481" y="399"/>
                </a:cubicBezTo>
                <a:cubicBezTo>
                  <a:pt x="527" y="356"/>
                  <a:pt x="559" y="304"/>
                  <a:pt x="574" y="268"/>
                </a:cubicBezTo>
                <a:cubicBezTo>
                  <a:pt x="577" y="260"/>
                  <a:pt x="577" y="252"/>
                  <a:pt x="574" y="244"/>
                </a:cubicBezTo>
                <a:cubicBezTo>
                  <a:pt x="559" y="208"/>
                  <a:pt x="527" y="156"/>
                  <a:pt x="481" y="113"/>
                </a:cubicBezTo>
                <a:cubicBezTo>
                  <a:pt x="434" y="69"/>
                  <a:pt x="369" y="32"/>
                  <a:pt x="288" y="32"/>
                </a:cubicBezTo>
                <a:close/>
                <a:moveTo>
                  <a:pt x="144" y="256"/>
                </a:moveTo>
                <a:cubicBezTo>
                  <a:pt x="144" y="176"/>
                  <a:pt x="208" y="112"/>
                  <a:pt x="288" y="112"/>
                </a:cubicBezTo>
                <a:cubicBezTo>
                  <a:pt x="368" y="112"/>
                  <a:pt x="432" y="176"/>
                  <a:pt x="432" y="256"/>
                </a:cubicBezTo>
                <a:cubicBezTo>
                  <a:pt x="432" y="336"/>
                  <a:pt x="368" y="400"/>
                  <a:pt x="288" y="400"/>
                </a:cubicBezTo>
                <a:cubicBezTo>
                  <a:pt x="208" y="400"/>
                  <a:pt x="144" y="336"/>
                  <a:pt x="144" y="256"/>
                </a:cubicBezTo>
                <a:close/>
              </a:path>
              <a:path w="576" h="512">
                <a:moveTo>
                  <a:pt x="288" y="192"/>
                </a:moveTo>
                <a:cubicBezTo>
                  <a:pt x="288" y="227"/>
                  <a:pt x="259" y="256"/>
                  <a:pt x="224" y="256"/>
                </a:cubicBezTo>
                <a:cubicBezTo>
                  <a:pt x="213" y="256"/>
                  <a:pt x="202" y="253"/>
                  <a:pt x="192" y="248"/>
                </a:cubicBezTo>
                <a:cubicBezTo>
                  <a:pt x="191" y="259"/>
                  <a:pt x="192" y="270"/>
                  <a:pt x="195" y="281"/>
                </a:cubicBezTo>
                <a:cubicBezTo>
                  <a:pt x="209" y="332"/>
                  <a:pt x="262" y="362"/>
                  <a:pt x="313" y="349"/>
                </a:cubicBezTo>
                <a:cubicBezTo>
                  <a:pt x="364" y="335"/>
                  <a:pt x="394" y="282"/>
                  <a:pt x="381" y="231"/>
                </a:cubicBezTo>
                <a:cubicBezTo>
                  <a:pt x="369" y="185"/>
                  <a:pt x="325" y="156"/>
                  <a:pt x="280" y="160"/>
                </a:cubicBezTo>
                <a:cubicBezTo>
                  <a:pt x="285" y="170"/>
                  <a:pt x="288" y="180"/>
                  <a:pt x="288" y="192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6" name="step-l2"/>
          <p:cNvSpPr txBox="1"/>
          <p:nvPr/>
        </p:nvSpPr>
        <p:spPr>
          <a:xfrm>
            <a:off x="56261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View</a:t>
            </a:r>
            <a:endParaRPr lang="en-US" sz="2100" noProof="1"/>
          </a:p>
        </p:txBody>
      </p:sp>
      <p:sp>
        <p:nvSpPr>
          <p:cNvPr id="17" name="step-line2"/>
          <p:cNvSpPr/>
          <p:nvPr/>
        </p:nvSpPr>
        <p:spPr>
          <a:xfrm>
            <a:off x="51181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step-n3"/>
          <p:cNvSpPr txBox="1"/>
          <p:nvPr/>
        </p:nvSpPr>
        <p:spPr>
          <a:xfrm>
            <a:off x="73279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04</a:t>
            </a:r>
            <a:endParaRPr lang="en-US" sz="1200" noProof="1"/>
          </a:p>
        </p:txBody>
      </p:sp>
      <p:sp>
        <p:nvSpPr>
          <p:cNvPr id="19" name="step-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eyJpY29uTmFtZSI6ImZhczpwZW4tdG8tc3F1YXJlIn0</pptd:icon>
              </p:ext>
            </p:extLst>
          </p:nvPr>
        </p:nvSpPr>
        <p:spPr>
          <a:xfrm>
            <a:off x="73279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72" y="22"/>
                </a:moveTo>
                <a:cubicBezTo>
                  <a:pt x="450" y="0"/>
                  <a:pt x="414" y="0"/>
                  <a:pt x="392" y="22"/>
                </a:cubicBezTo>
                <a:lnTo>
                  <a:pt x="368" y="46"/>
                </a:lnTo>
                <a:lnTo>
                  <a:pt x="466" y="144"/>
                </a:lnTo>
                <a:lnTo>
                  <a:pt x="490" y="120"/>
                </a:lnTo>
                <a:cubicBezTo>
                  <a:pt x="512" y="98"/>
                  <a:pt x="512" y="62"/>
                  <a:pt x="490" y="40"/>
                </a:cubicBezTo>
                <a:lnTo>
                  <a:pt x="472" y="22"/>
                </a:lnTo>
                <a:close/>
              </a:path>
              <a:path w="512" h="512">
                <a:moveTo>
                  <a:pt x="172" y="242"/>
                </a:moveTo>
                <a:cubicBezTo>
                  <a:pt x="166" y="248"/>
                  <a:pt x="162" y="255"/>
                  <a:pt x="159" y="264"/>
                </a:cubicBezTo>
                <a:lnTo>
                  <a:pt x="129" y="352"/>
                </a:lnTo>
                <a:cubicBezTo>
                  <a:pt x="126" y="361"/>
                  <a:pt x="129" y="371"/>
                  <a:pt x="135" y="377"/>
                </a:cubicBezTo>
                <a:cubicBezTo>
                  <a:pt x="142" y="384"/>
                  <a:pt x="151" y="386"/>
                  <a:pt x="160" y="383"/>
                </a:cubicBezTo>
                <a:lnTo>
                  <a:pt x="249" y="353"/>
                </a:lnTo>
                <a:cubicBezTo>
                  <a:pt x="257" y="351"/>
                  <a:pt x="264" y="346"/>
                  <a:pt x="270" y="340"/>
                </a:cubicBezTo>
                <a:lnTo>
                  <a:pt x="432" y="178"/>
                </a:lnTo>
                <a:lnTo>
                  <a:pt x="334" y="80"/>
                </a:lnTo>
                <a:lnTo>
                  <a:pt x="172" y="242"/>
                </a:lnTo>
                <a:close/>
              </a:path>
              <a:path w="512" h="512">
                <a:moveTo>
                  <a:pt x="96" y="64"/>
                </a:moveTo>
                <a:cubicBezTo>
                  <a:pt x="43" y="64"/>
                  <a:pt x="0" y="107"/>
                  <a:pt x="0" y="160"/>
                </a:cubicBezTo>
                <a:lnTo>
                  <a:pt x="0" y="416"/>
                </a:lnTo>
                <a:cubicBezTo>
                  <a:pt x="0" y="469"/>
                  <a:pt x="43" y="512"/>
                  <a:pt x="96" y="512"/>
                </a:cubicBezTo>
                <a:lnTo>
                  <a:pt x="352" y="512"/>
                </a:lnTo>
                <a:cubicBezTo>
                  <a:pt x="405" y="512"/>
                  <a:pt x="448" y="469"/>
                  <a:pt x="448" y="416"/>
                </a:cubicBezTo>
                <a:lnTo>
                  <a:pt x="448" y="320"/>
                </a:lnTo>
                <a:cubicBezTo>
                  <a:pt x="448" y="302"/>
                  <a:pt x="434" y="288"/>
                  <a:pt x="416" y="288"/>
                </a:cubicBezTo>
                <a:cubicBezTo>
                  <a:pt x="398" y="288"/>
                  <a:pt x="384" y="302"/>
                  <a:pt x="384" y="320"/>
                </a:cubicBezTo>
                <a:lnTo>
                  <a:pt x="384" y="416"/>
                </a:lnTo>
                <a:cubicBezTo>
                  <a:pt x="384" y="434"/>
                  <a:pt x="370" y="448"/>
                  <a:pt x="352" y="448"/>
                </a:cubicBezTo>
                <a:lnTo>
                  <a:pt x="96" y="448"/>
                </a:lnTo>
                <a:cubicBezTo>
                  <a:pt x="78" y="448"/>
                  <a:pt x="64" y="434"/>
                  <a:pt x="64" y="416"/>
                </a:cubicBezTo>
                <a:lnTo>
                  <a:pt x="64" y="160"/>
                </a:lnTo>
                <a:cubicBezTo>
                  <a:pt x="64" y="142"/>
                  <a:pt x="78" y="128"/>
                  <a:pt x="96" y="128"/>
                </a:cubicBezTo>
                <a:lnTo>
                  <a:pt x="192" y="128"/>
                </a:lnTo>
                <a:cubicBezTo>
                  <a:pt x="210" y="128"/>
                  <a:pt x="224" y="114"/>
                  <a:pt x="224" y="96"/>
                </a:cubicBezTo>
                <a:cubicBezTo>
                  <a:pt x="224" y="78"/>
                  <a:pt x="210" y="64"/>
                  <a:pt x="192" y="64"/>
                </a:cubicBezTo>
                <a:lnTo>
                  <a:pt x="96" y="64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20" name="step-l3"/>
          <p:cNvSpPr txBox="1"/>
          <p:nvPr/>
        </p:nvSpPr>
        <p:spPr>
          <a:xfrm>
            <a:off x="78359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Edit</a:t>
            </a:r>
            <a:endParaRPr lang="en-US" sz="2100" noProof="1"/>
          </a:p>
        </p:txBody>
      </p:sp>
      <p:sp>
        <p:nvSpPr>
          <p:cNvPr id="21" name="step-line3"/>
          <p:cNvSpPr/>
          <p:nvPr/>
        </p:nvSpPr>
        <p:spPr>
          <a:xfrm>
            <a:off x="73279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step-n4"/>
          <p:cNvSpPr txBox="1"/>
          <p:nvPr/>
        </p:nvSpPr>
        <p:spPr>
          <a:xfrm>
            <a:off x="9537700" y="16510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05</a:t>
            </a:r>
            <a:endParaRPr lang="en-US" sz="1200" noProof="1"/>
          </a:p>
        </p:txBody>
      </p:sp>
      <p:sp>
        <p:nvSpPr>
          <p:cNvPr id="23" name="step-i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eyJpY29uTmFtZSI6ImZhczp0cmFzaCJ9</pptd:icon>
              </p:ext>
            </p:extLst>
          </p:nvPr>
        </p:nvSpPr>
        <p:spPr>
          <a:xfrm>
            <a:off x="95377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37" y="6"/>
                </a:moveTo>
                <a:lnTo>
                  <a:pt x="128" y="32"/>
                </a:lnTo>
                <a:lnTo>
                  <a:pt x="32" y="32"/>
                </a:lnTo>
                <a:cubicBezTo>
                  <a:pt x="14" y="32"/>
                  <a:pt x="0" y="46"/>
                  <a:pt x="0" y="64"/>
                </a:cubicBezTo>
                <a:cubicBezTo>
                  <a:pt x="0" y="82"/>
                  <a:pt x="14" y="96"/>
                  <a:pt x="32" y="96"/>
                </a:cubicBezTo>
                <a:lnTo>
                  <a:pt x="416" y="96"/>
                </a:lnTo>
                <a:cubicBezTo>
                  <a:pt x="434" y="96"/>
                  <a:pt x="448" y="82"/>
                  <a:pt x="448" y="64"/>
                </a:cubicBezTo>
                <a:cubicBezTo>
                  <a:pt x="448" y="46"/>
                  <a:pt x="434" y="32"/>
                  <a:pt x="416" y="32"/>
                </a:cubicBezTo>
                <a:lnTo>
                  <a:pt x="320" y="32"/>
                </a:lnTo>
                <a:lnTo>
                  <a:pt x="311" y="6"/>
                </a:lnTo>
                <a:cubicBezTo>
                  <a:pt x="307" y="-7"/>
                  <a:pt x="295" y="-16"/>
                  <a:pt x="281" y="-16"/>
                </a:cubicBezTo>
                <a:lnTo>
                  <a:pt x="167" y="-16"/>
                </a:lnTo>
                <a:cubicBezTo>
                  <a:pt x="153" y="-16"/>
                  <a:pt x="141" y="-7"/>
                  <a:pt x="137" y="6"/>
                </a:cubicBezTo>
                <a:close/>
                <a:moveTo>
                  <a:pt x="416" y="144"/>
                </a:moveTo>
                <a:lnTo>
                  <a:pt x="32" y="144"/>
                </a:lnTo>
                <a:lnTo>
                  <a:pt x="53" y="467"/>
                </a:lnTo>
                <a:cubicBezTo>
                  <a:pt x="55" y="492"/>
                  <a:pt x="76" y="512"/>
                  <a:pt x="101" y="512"/>
                </a:cubicBezTo>
                <a:lnTo>
                  <a:pt x="347" y="512"/>
                </a:lnTo>
                <a:cubicBezTo>
                  <a:pt x="372" y="512"/>
                  <a:pt x="393" y="492"/>
                  <a:pt x="395" y="467"/>
                </a:cubicBezTo>
                <a:lnTo>
                  <a:pt x="416" y="144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24" name="step-l4"/>
          <p:cNvSpPr txBox="1"/>
          <p:nvPr/>
        </p:nvSpPr>
        <p:spPr>
          <a:xfrm>
            <a:off x="10045700" y="20701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F172A"/>
                </a:solidFill>
                <a:latin typeface="MiSans"/>
                <a:ea typeface="MiSans"/>
              </a:rPr>
              <a:t>Delete</a:t>
            </a:r>
            <a:endParaRPr lang="en-US" sz="2100" noProof="1"/>
          </a:p>
        </p:txBody>
      </p:sp>
      <p:sp>
        <p:nvSpPr>
          <p:cNvPr id="25" name="step-line4"/>
          <p:cNvSpPr/>
          <p:nvPr/>
        </p:nvSpPr>
        <p:spPr>
          <a:xfrm>
            <a:off x="9537700" y="2730500"/>
            <a:ext cx="1841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6" name="record"/>
          <p:cNvSpPr txBox="1"/>
          <p:nvPr/>
        </p:nvSpPr>
        <p:spPr>
          <a:xfrm>
            <a:off x="736600" y="3556000"/>
            <a:ext cx="5969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noProof="1">
                <a:solidFill>
                  <a:srgbClr val="0F172A"/>
                </a:solidFill>
                <a:latin typeface="MiSans"/>
                <a:ea typeface="MiSans"/>
              </a:rPr>
              <a:t>One employee record</a:t>
            </a:r>
            <a:endParaRPr lang="en-US" sz="3200" noProof="1"/>
          </a:p>
        </p:txBody>
      </p:sp>
      <p:sp>
        <p:nvSpPr>
          <p:cNvPr id="27" name="record-sub"/>
          <p:cNvSpPr txBox="1"/>
          <p:nvPr/>
        </p:nvSpPr>
        <p:spPr>
          <a:xfrm>
            <a:off x="736600" y="4318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700" noProof="1">
                <a:solidFill>
                  <a:srgbClr val="64748B"/>
                </a:solidFill>
                <a:latin typeface="MiSans"/>
                <a:ea typeface="MiSans"/>
              </a:rPr>
              <a:t>A single place to add, retrieve and maintain employee information.</a:t>
            </a:r>
            <a:endParaRPr lang="en-US" sz="1700" noProof="1"/>
          </a:p>
        </p:txBody>
      </p:sp>
      <p:sp>
        <p:nvSpPr>
          <p:cNvPr id="28" name="validation"/>
          <p:cNvSpPr/>
          <p:nvPr/>
        </p:nvSpPr>
        <p:spPr>
          <a:xfrm>
            <a:off x="7302500" y="3492500"/>
            <a:ext cx="4254500" cy="184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9" name="validation-text"/>
          <p:cNvSpPr txBox="1"/>
          <p:nvPr/>
        </p:nvSpPr>
        <p:spPr>
          <a:xfrm>
            <a:off x="7683500" y="3810000"/>
            <a:ext cx="34925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Clear validation
Confirmed deletion</a:t>
            </a:r>
            <a:endParaRPr lang="en-US" sz="2100" noProof="1"/>
          </a:p>
        </p:txBody>
      </p:sp>
      <p:sp>
        <p:nvSpPr>
          <p:cNvPr id="30" name="test-ref"/>
          <p:cNvSpPr txBox="1"/>
          <p:nvPr/>
        </p:nvSpPr>
        <p:spPr>
          <a:xfrm>
            <a:off x="7683500" y="48895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8FAFC"/>
                </a:solidFill>
                <a:latin typeface="MiSans"/>
                <a:ea typeface="MiSans"/>
              </a:rPr>
              <a:t>TC-08 to TC-14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Weekly scheduling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OUR SOLUTION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05</a:t>
            </a:r>
            <a:endParaRPr lang="en-US" sz="1000" noProof="1"/>
          </a:p>
        </p:txBody>
      </p:sp>
      <p:sp>
        <p:nvSpPr>
          <p:cNvPr id="6" name="num-7"/>
          <p:cNvSpPr txBox="1"/>
          <p:nvPr/>
        </p:nvSpPr>
        <p:spPr>
          <a:xfrm>
            <a:off x="889000" y="1524000"/>
            <a:ext cx="190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200" b="1" noProof="1">
                <a:solidFill>
                  <a:srgbClr val="38BDF8"/>
                </a:solidFill>
                <a:latin typeface="MiSans"/>
                <a:ea typeface="MiSans"/>
              </a:rPr>
              <a:t>7</a:t>
            </a:r>
            <a:endParaRPr lang="en-US" sz="6200" noProof="1"/>
          </a:p>
        </p:txBody>
      </p:sp>
      <p:sp>
        <p:nvSpPr>
          <p:cNvPr id="7" name="label-7"/>
          <p:cNvSpPr txBox="1"/>
          <p:nvPr/>
        </p:nvSpPr>
        <p:spPr>
          <a:xfrm>
            <a:off x="1841500" y="1841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days per week</a:t>
            </a:r>
            <a:endParaRPr lang="en-US" sz="1600" noProof="1"/>
          </a:p>
        </p:txBody>
      </p:sp>
      <p:sp>
        <p:nvSpPr>
          <p:cNvPr id="8" name="num-3"/>
          <p:cNvSpPr txBox="1"/>
          <p:nvPr/>
        </p:nvSpPr>
        <p:spPr>
          <a:xfrm>
            <a:off x="4445000" y="1524000"/>
            <a:ext cx="190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200" b="1" noProof="1">
                <a:solidFill>
                  <a:srgbClr val="38BDF8"/>
                </a:solidFill>
                <a:latin typeface="MiSans"/>
                <a:ea typeface="MiSans"/>
              </a:rPr>
              <a:t>3</a:t>
            </a:r>
            <a:endParaRPr lang="en-US" sz="6200" noProof="1"/>
          </a:p>
        </p:txBody>
      </p:sp>
      <p:sp>
        <p:nvSpPr>
          <p:cNvPr id="9" name="label-3"/>
          <p:cNvSpPr txBox="1"/>
          <p:nvPr/>
        </p:nvSpPr>
        <p:spPr>
          <a:xfrm>
            <a:off x="5397500" y="1841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morning / noon / evening</a:t>
            </a:r>
            <a:endParaRPr lang="en-US" sz="1600" noProof="1"/>
          </a:p>
        </p:txBody>
      </p:sp>
      <p:sp>
        <p:nvSpPr>
          <p:cNvPr id="10" name="num-1"/>
          <p:cNvSpPr txBox="1"/>
          <p:nvPr/>
        </p:nvSpPr>
        <p:spPr>
          <a:xfrm>
            <a:off x="8636000" y="1524000"/>
            <a:ext cx="190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200" b="1" noProof="1">
                <a:solidFill>
                  <a:srgbClr val="38BDF8"/>
                </a:solidFill>
                <a:latin typeface="MiSans"/>
                <a:ea typeface="MiSans"/>
              </a:rPr>
              <a:t>1</a:t>
            </a:r>
            <a:endParaRPr lang="en-US" sz="6200" noProof="1"/>
          </a:p>
        </p:txBody>
      </p:sp>
      <p:sp>
        <p:nvSpPr>
          <p:cNvPr id="11" name="label-1"/>
          <p:cNvSpPr txBox="1"/>
          <p:nvPr/>
        </p:nvSpPr>
        <p:spPr>
          <a:xfrm>
            <a:off x="9588500" y="1841500"/>
            <a:ext cx="241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shift per day</a:t>
            </a:r>
            <a:endParaRPr lang="en-US" sz="1600" noProof="1"/>
          </a:p>
        </p:txBody>
      </p:sp>
      <p:sp>
        <p:nvSpPr>
          <p:cNvPr id="12" name="cell-0-0"/>
          <p:cNvSpPr/>
          <p:nvPr/>
        </p:nvSpPr>
        <p:spPr>
          <a:xfrm>
            <a:off x="914400" y="34925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3" name="cell-0-1"/>
          <p:cNvSpPr/>
          <p:nvPr/>
        </p:nvSpPr>
        <p:spPr>
          <a:xfrm>
            <a:off x="2336800" y="34925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4" name="cell-0-2"/>
          <p:cNvSpPr/>
          <p:nvPr/>
        </p:nvSpPr>
        <p:spPr>
          <a:xfrm>
            <a:off x="3759200" y="34925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5" name="cell-0-3"/>
          <p:cNvSpPr/>
          <p:nvPr/>
        </p:nvSpPr>
        <p:spPr>
          <a:xfrm>
            <a:off x="5181600" y="34925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cell-0-4"/>
          <p:cNvSpPr/>
          <p:nvPr/>
        </p:nvSpPr>
        <p:spPr>
          <a:xfrm>
            <a:off x="6604000" y="34925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7" name="cell-0-5"/>
          <p:cNvSpPr/>
          <p:nvPr/>
        </p:nvSpPr>
        <p:spPr>
          <a:xfrm>
            <a:off x="8026400" y="34925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8" name="cell-0-6"/>
          <p:cNvSpPr/>
          <p:nvPr/>
        </p:nvSpPr>
        <p:spPr>
          <a:xfrm>
            <a:off x="9448800" y="34925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19" name="cell-1-0"/>
          <p:cNvSpPr/>
          <p:nvPr/>
        </p:nvSpPr>
        <p:spPr>
          <a:xfrm>
            <a:off x="914400" y="41021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0" name="cell-1-1"/>
          <p:cNvSpPr/>
          <p:nvPr/>
        </p:nvSpPr>
        <p:spPr>
          <a:xfrm>
            <a:off x="2336800" y="41021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1" name="cell-1-2"/>
          <p:cNvSpPr/>
          <p:nvPr/>
        </p:nvSpPr>
        <p:spPr>
          <a:xfrm>
            <a:off x="3759200" y="41021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2" name="cell-1-3"/>
          <p:cNvSpPr/>
          <p:nvPr/>
        </p:nvSpPr>
        <p:spPr>
          <a:xfrm>
            <a:off x="5181600" y="41021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3" name="cell-1-4"/>
          <p:cNvSpPr/>
          <p:nvPr/>
        </p:nvSpPr>
        <p:spPr>
          <a:xfrm>
            <a:off x="6604000" y="41021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4" name="cell-1-5"/>
          <p:cNvSpPr/>
          <p:nvPr/>
        </p:nvSpPr>
        <p:spPr>
          <a:xfrm>
            <a:off x="8026400" y="41021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5" name="cell-1-6"/>
          <p:cNvSpPr/>
          <p:nvPr/>
        </p:nvSpPr>
        <p:spPr>
          <a:xfrm>
            <a:off x="9448800" y="41021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6" name="cell-2-0"/>
          <p:cNvSpPr/>
          <p:nvPr/>
        </p:nvSpPr>
        <p:spPr>
          <a:xfrm>
            <a:off x="9144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7" name="cell-2-1"/>
          <p:cNvSpPr/>
          <p:nvPr/>
        </p:nvSpPr>
        <p:spPr>
          <a:xfrm>
            <a:off x="2336800" y="47117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8" name="cell-2-2"/>
          <p:cNvSpPr/>
          <p:nvPr/>
        </p:nvSpPr>
        <p:spPr>
          <a:xfrm>
            <a:off x="37592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29" name="cell-2-3"/>
          <p:cNvSpPr/>
          <p:nvPr/>
        </p:nvSpPr>
        <p:spPr>
          <a:xfrm>
            <a:off x="5181600" y="4711700"/>
            <a:ext cx="1295400" cy="482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0" name="cell-2-4"/>
          <p:cNvSpPr/>
          <p:nvPr/>
        </p:nvSpPr>
        <p:spPr>
          <a:xfrm>
            <a:off x="66040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31" name="cell-2-5"/>
          <p:cNvSpPr/>
          <p:nvPr/>
        </p:nvSpPr>
        <p:spPr>
          <a:xfrm>
            <a:off x="8026400" y="4711700"/>
            <a:ext cx="1295400" cy="4826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2" name="cell-2-6"/>
          <p:cNvSpPr/>
          <p:nvPr/>
        </p:nvSpPr>
        <p:spPr>
          <a:xfrm>
            <a:off x="9448800" y="4711700"/>
            <a:ext cx="1295400" cy="482600"/>
          </a:xfrm>
          <a:prstGeom prst="rect">
            <a:avLst/>
          </a:prstGeom>
          <a:solidFill>
            <a:srgbClr val="172033"/>
          </a:solidFill>
          <a:ln>
            <a:noFill/>
          </a:ln>
        </p:spPr>
      </p:sp>
      <p:sp>
        <p:nvSpPr>
          <p:cNvPr id="33" name="day-0"/>
          <p:cNvSpPr txBox="1"/>
          <p:nvPr/>
        </p:nvSpPr>
        <p:spPr>
          <a:xfrm>
            <a:off x="9144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MON</a:t>
            </a:r>
            <a:endParaRPr lang="en-US" sz="1000" noProof="1"/>
          </a:p>
        </p:txBody>
      </p:sp>
      <p:sp>
        <p:nvSpPr>
          <p:cNvPr id="34" name="day-1"/>
          <p:cNvSpPr txBox="1"/>
          <p:nvPr/>
        </p:nvSpPr>
        <p:spPr>
          <a:xfrm>
            <a:off x="23368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TUE</a:t>
            </a:r>
            <a:endParaRPr lang="en-US" sz="1000" noProof="1"/>
          </a:p>
        </p:txBody>
      </p:sp>
      <p:sp>
        <p:nvSpPr>
          <p:cNvPr id="35" name="day-2"/>
          <p:cNvSpPr txBox="1"/>
          <p:nvPr/>
        </p:nvSpPr>
        <p:spPr>
          <a:xfrm>
            <a:off x="37592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WED</a:t>
            </a:r>
            <a:endParaRPr lang="en-US" sz="1000" noProof="1"/>
          </a:p>
        </p:txBody>
      </p:sp>
      <p:sp>
        <p:nvSpPr>
          <p:cNvPr id="36" name="day-3"/>
          <p:cNvSpPr txBox="1"/>
          <p:nvPr/>
        </p:nvSpPr>
        <p:spPr>
          <a:xfrm>
            <a:off x="51816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THU</a:t>
            </a:r>
            <a:endParaRPr lang="en-US" sz="1000" noProof="1"/>
          </a:p>
        </p:txBody>
      </p:sp>
      <p:sp>
        <p:nvSpPr>
          <p:cNvPr id="37" name="day-4"/>
          <p:cNvSpPr txBox="1"/>
          <p:nvPr/>
        </p:nvSpPr>
        <p:spPr>
          <a:xfrm>
            <a:off x="66040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FRI</a:t>
            </a:r>
            <a:endParaRPr lang="en-US" sz="1000" noProof="1"/>
          </a:p>
        </p:txBody>
      </p:sp>
      <p:sp>
        <p:nvSpPr>
          <p:cNvPr id="38" name="day-5"/>
          <p:cNvSpPr txBox="1"/>
          <p:nvPr/>
        </p:nvSpPr>
        <p:spPr>
          <a:xfrm>
            <a:off x="80264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SAT</a:t>
            </a:r>
            <a:endParaRPr lang="en-US" sz="1000" noProof="1"/>
          </a:p>
        </p:txBody>
      </p:sp>
      <p:sp>
        <p:nvSpPr>
          <p:cNvPr id="39" name="day-6"/>
          <p:cNvSpPr txBox="1"/>
          <p:nvPr/>
        </p:nvSpPr>
        <p:spPr>
          <a:xfrm>
            <a:off x="9448800" y="3111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SUN</a:t>
            </a:r>
            <a:endParaRPr lang="en-US" sz="1000" noProof="1"/>
          </a:p>
        </p:txBody>
      </p:sp>
      <p:sp>
        <p:nvSpPr>
          <p:cNvPr id="40" name="manual"/>
          <p:cNvSpPr txBox="1"/>
          <p:nvPr/>
        </p:nvSpPr>
        <p:spPr>
          <a:xfrm>
            <a:off x="914400" y="56515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F8FAFC"/>
                </a:solidFill>
                <a:latin typeface="MiSans"/>
                <a:ea typeface="MiSans"/>
              </a:rPr>
              <a:t>Manual assignment</a:t>
            </a:r>
            <a:endParaRPr lang="en-US" sz="1700" noProof="1"/>
          </a:p>
        </p:txBody>
      </p:sp>
      <p:sp>
        <p:nvSpPr>
          <p:cNvPr id="41" name="conflict"/>
          <p:cNvSpPr txBox="1"/>
          <p:nvPr/>
        </p:nvSpPr>
        <p:spPr>
          <a:xfrm>
            <a:off x="6604000" y="56515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700" b="1" noProof="1">
                <a:solidFill>
                  <a:srgbClr val="38BDF8"/>
                </a:solidFill>
                <a:latin typeface="MiSans"/>
                <a:ea typeface="MiSans"/>
              </a:rPr>
              <a:t>Conflict confirmation</a:t>
            </a:r>
            <a:endParaRPr lang="en-US" sz="17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Leave approval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OUR SOLUTION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06</a:t>
            </a:r>
            <a:endParaRPr lang="en-US" sz="1000" noProof="1"/>
          </a:p>
        </p:txBody>
      </p:sp>
      <p:sp>
        <p:nvSpPr>
          <p:cNvPr id="6" name="flow-n0"/>
          <p:cNvSpPr txBox="1"/>
          <p:nvPr/>
        </p:nvSpPr>
        <p:spPr>
          <a:xfrm>
            <a:off x="762000" y="15875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7" name="flow-t0"/>
          <p:cNvSpPr txBox="1"/>
          <p:nvPr/>
        </p:nvSpPr>
        <p:spPr>
          <a:xfrm>
            <a:off x="762000" y="19685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Request</a:t>
            </a:r>
            <a:endParaRPr lang="en-US" sz="2300" noProof="1"/>
          </a:p>
        </p:txBody>
      </p:sp>
      <p:sp>
        <p:nvSpPr>
          <p:cNvPr id="8" name="flow-b0"/>
          <p:cNvSpPr txBox="1"/>
          <p:nvPr/>
        </p:nvSpPr>
        <p:spPr>
          <a:xfrm>
            <a:off x="762000" y="2463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Employee submits leave</a:t>
            </a:r>
            <a:endParaRPr lang="en-US" sz="1400" noProof="1"/>
          </a:p>
        </p:txBody>
      </p:sp>
      <p:sp>
        <p:nvSpPr>
          <p:cNvPr id="9" name="flow-arrow0"/>
          <p:cNvSpPr/>
          <p:nvPr/>
        </p:nvSpPr>
        <p:spPr>
          <a:xfrm>
            <a:off x="3873500" y="2095500"/>
            <a:ext cx="4445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flow-n1"/>
          <p:cNvSpPr txBox="1"/>
          <p:nvPr/>
        </p:nvSpPr>
        <p:spPr>
          <a:xfrm>
            <a:off x="4572000" y="15875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1" name="flow-t1"/>
          <p:cNvSpPr txBox="1"/>
          <p:nvPr/>
        </p:nvSpPr>
        <p:spPr>
          <a:xfrm>
            <a:off x="4572000" y="19685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Pending</a:t>
            </a:r>
            <a:endParaRPr lang="en-US" sz="2300" noProof="1"/>
          </a:p>
        </p:txBody>
      </p:sp>
      <p:sp>
        <p:nvSpPr>
          <p:cNvPr id="12" name="flow-b1"/>
          <p:cNvSpPr txBox="1"/>
          <p:nvPr/>
        </p:nvSpPr>
        <p:spPr>
          <a:xfrm>
            <a:off x="4572000" y="2463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Waiting for approval</a:t>
            </a:r>
            <a:endParaRPr lang="en-US" sz="1400" noProof="1"/>
          </a:p>
        </p:txBody>
      </p:sp>
      <p:sp>
        <p:nvSpPr>
          <p:cNvPr id="13" name="flow-arrow1"/>
          <p:cNvSpPr/>
          <p:nvPr/>
        </p:nvSpPr>
        <p:spPr>
          <a:xfrm>
            <a:off x="7683500" y="2095500"/>
            <a:ext cx="4445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4" name="flow-n2"/>
          <p:cNvSpPr txBox="1"/>
          <p:nvPr/>
        </p:nvSpPr>
        <p:spPr>
          <a:xfrm>
            <a:off x="8382000" y="15875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5" name="flow-t2"/>
          <p:cNvSpPr txBox="1"/>
          <p:nvPr/>
        </p:nvSpPr>
        <p:spPr>
          <a:xfrm>
            <a:off x="8382000" y="1968500"/>
            <a:ext cx="317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Decision</a:t>
            </a:r>
            <a:endParaRPr lang="en-US" sz="2300" noProof="1"/>
          </a:p>
        </p:txBody>
      </p:sp>
      <p:sp>
        <p:nvSpPr>
          <p:cNvPr id="16" name="flow-b2"/>
          <p:cNvSpPr txBox="1"/>
          <p:nvPr/>
        </p:nvSpPr>
        <p:spPr>
          <a:xfrm>
            <a:off x="8382000" y="24638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Approve or reject</a:t>
            </a:r>
            <a:endParaRPr lang="en-US" sz="1400" noProof="1"/>
          </a:p>
        </p:txBody>
      </p:sp>
      <p:sp>
        <p:nvSpPr>
          <p:cNvPr id="17" name="quota-rule"/>
          <p:cNvSpPr/>
          <p:nvPr/>
        </p:nvSpPr>
        <p:spPr>
          <a:xfrm>
            <a:off x="762000" y="3200400"/>
            <a:ext cx="106680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quota-3"/>
          <p:cNvSpPr txBox="1"/>
          <p:nvPr/>
        </p:nvSpPr>
        <p:spPr>
          <a:xfrm>
            <a:off x="1016000" y="3556000"/>
            <a:ext cx="190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4F46E5"/>
                </a:solidFill>
                <a:latin typeface="MiSans"/>
                <a:ea typeface="MiSans"/>
              </a:rPr>
              <a:t>3</a:t>
            </a:r>
            <a:endParaRPr lang="en-US" sz="4800" noProof="1"/>
          </a:p>
        </p:txBody>
      </p:sp>
      <p:sp>
        <p:nvSpPr>
          <p:cNvPr id="19" name="quota-t-3"/>
          <p:cNvSpPr txBox="1"/>
          <p:nvPr/>
        </p:nvSpPr>
        <p:spPr>
          <a:xfrm>
            <a:off x="1016000" y="444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per day</a:t>
            </a:r>
            <a:endParaRPr lang="en-US" sz="1800" noProof="1"/>
          </a:p>
        </p:txBody>
      </p:sp>
      <p:sp>
        <p:nvSpPr>
          <p:cNvPr id="20" name="quota-b-3"/>
          <p:cNvSpPr txBox="1"/>
          <p:nvPr/>
        </p:nvSpPr>
        <p:spPr>
          <a:xfrm>
            <a:off x="1016000" y="48895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Normal quota</a:t>
            </a:r>
            <a:endParaRPr lang="en-US" sz="1300" noProof="1"/>
          </a:p>
        </p:txBody>
      </p:sp>
      <p:sp>
        <p:nvSpPr>
          <p:cNvPr id="21" name="quota-5"/>
          <p:cNvSpPr txBox="1"/>
          <p:nvPr/>
        </p:nvSpPr>
        <p:spPr>
          <a:xfrm>
            <a:off x="4699000" y="3556000"/>
            <a:ext cx="190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4F46E5"/>
                </a:solidFill>
                <a:latin typeface="MiSans"/>
                <a:ea typeface="MiSans"/>
              </a:rPr>
              <a:t>5</a:t>
            </a:r>
            <a:endParaRPr lang="en-US" sz="4800" noProof="1"/>
          </a:p>
        </p:txBody>
      </p:sp>
      <p:sp>
        <p:nvSpPr>
          <p:cNvPr id="22" name="quota-t-5"/>
          <p:cNvSpPr txBox="1"/>
          <p:nvPr/>
        </p:nvSpPr>
        <p:spPr>
          <a:xfrm>
            <a:off x="4699000" y="444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maximum</a:t>
            </a:r>
            <a:endParaRPr lang="en-US" sz="1800" noProof="1"/>
          </a:p>
        </p:txBody>
      </p:sp>
      <p:sp>
        <p:nvSpPr>
          <p:cNvPr id="23" name="quota-b-5"/>
          <p:cNvSpPr txBox="1"/>
          <p:nvPr/>
        </p:nvSpPr>
        <p:spPr>
          <a:xfrm>
            <a:off x="4699000" y="48895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Special approval for 4th and 5th</a:t>
            </a:r>
            <a:endParaRPr lang="en-US" sz="1300" noProof="1"/>
          </a:p>
        </p:txBody>
      </p:sp>
      <p:sp>
        <p:nvSpPr>
          <p:cNvPr id="24" name="quota-6th"/>
          <p:cNvSpPr txBox="1"/>
          <p:nvPr/>
        </p:nvSpPr>
        <p:spPr>
          <a:xfrm>
            <a:off x="8763000" y="3556000"/>
            <a:ext cx="190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0F172A"/>
                </a:solidFill>
                <a:latin typeface="MiSans"/>
                <a:ea typeface="MiSans"/>
              </a:rPr>
              <a:t>6th</a:t>
            </a:r>
            <a:endParaRPr lang="en-US" sz="4800" noProof="1"/>
          </a:p>
        </p:txBody>
      </p:sp>
      <p:sp>
        <p:nvSpPr>
          <p:cNvPr id="25" name="quota-t-6th"/>
          <p:cNvSpPr txBox="1"/>
          <p:nvPr/>
        </p:nvSpPr>
        <p:spPr>
          <a:xfrm>
            <a:off x="8763000" y="4445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blocked</a:t>
            </a:r>
            <a:endParaRPr lang="en-US" sz="1800" noProof="1"/>
          </a:p>
        </p:txBody>
      </p:sp>
      <p:sp>
        <p:nvSpPr>
          <p:cNvPr id="26" name="quota-b-6th"/>
          <p:cNvSpPr txBox="1"/>
          <p:nvPr/>
        </p:nvSpPr>
        <p:spPr>
          <a:xfrm>
            <a:off x="8763000" y="48895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64748B"/>
                </a:solidFill>
                <a:latin typeface="MiSans"/>
                <a:ea typeface="MiSans"/>
              </a:rPr>
              <a:t>Above the absolute limit</a:t>
            </a:r>
            <a:endParaRPr lang="en-US" sz="1300" noProof="1"/>
          </a:p>
        </p:txBody>
      </p:sp>
      <p:sp>
        <p:nvSpPr>
          <p:cNvPr id="27" name="bottom-band"/>
          <p:cNvSpPr/>
          <p:nvPr/>
        </p:nvSpPr>
        <p:spPr>
          <a:xfrm>
            <a:off x="609600" y="5778500"/>
            <a:ext cx="10972800" cy="4826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8" name="bottom-text"/>
          <p:cNvSpPr txBox="1"/>
          <p:nvPr/>
        </p:nvSpPr>
        <p:spPr>
          <a:xfrm>
            <a:off x="889000" y="58801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Approved leave blocks scheduling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Access by role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OUR SOLUTION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07</a:t>
            </a:r>
            <a:endParaRPr lang="en-US" sz="1000" noProof="1"/>
          </a:p>
        </p:txBody>
      </p:sp>
      <p:sp>
        <p:nvSpPr>
          <p:cNvPr id="6" name="role-icon0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eyJpY29uTmFtZSI6ImZhczp1c2VyLXNoaWVsZCJ9</pptd:icon>
              </p:ext>
            </p:extLst>
          </p:nvPr>
        </p:nvSpPr>
        <p:spPr>
          <a:xfrm>
            <a:off x="825500" y="1651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7" name="role0"/>
          <p:cNvSpPr txBox="1"/>
          <p:nvPr/>
        </p:nvSpPr>
        <p:spPr>
          <a:xfrm>
            <a:off x="1587500" y="15875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8FAFC"/>
                </a:solidFill>
                <a:latin typeface="MiSans"/>
                <a:ea typeface="MiSans"/>
              </a:rPr>
              <a:t>Administrator</a:t>
            </a:r>
            <a:endParaRPr lang="en-US" sz="2300" noProof="1"/>
          </a:p>
        </p:txBody>
      </p:sp>
      <p:sp>
        <p:nvSpPr>
          <p:cNvPr id="8" name="role-desc0"/>
          <p:cNvSpPr txBox="1"/>
          <p:nvPr/>
        </p:nvSpPr>
        <p:spPr>
          <a:xfrm>
            <a:off x="5207000" y="16383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Maintain records, shifts and leave</a:t>
            </a:r>
            <a:endParaRPr lang="en-US" sz="1700" noProof="1"/>
          </a:p>
        </p:txBody>
      </p:sp>
      <p:sp>
        <p:nvSpPr>
          <p:cNvPr id="9" name="role-line0"/>
          <p:cNvSpPr/>
          <p:nvPr/>
        </p:nvSpPr>
        <p:spPr>
          <a:xfrm>
            <a:off x="825500" y="2476500"/>
            <a:ext cx="10414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" name="role-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eyJpY29uTmFtZSI6ImZhczp1c2VyLXRpZSJ9</pptd:icon>
              </p:ext>
            </p:extLst>
          </p:nvPr>
        </p:nvSpPr>
        <p:spPr>
          <a:xfrm>
            <a:off x="825500" y="2921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158" y="248"/>
                  <a:pt x="104" y="194"/>
                  <a:pt x="104" y="128"/>
                </a:cubicBezTo>
                <a:cubicBezTo>
                  <a:pt x="104" y="62"/>
                  <a:pt x="158" y="8"/>
                  <a:pt x="224" y="8"/>
                </a:cubicBezTo>
                <a:cubicBezTo>
                  <a:pt x="290" y="8"/>
                  <a:pt x="344" y="62"/>
                  <a:pt x="344" y="128"/>
                </a:cubicBezTo>
                <a:cubicBezTo>
                  <a:pt x="344" y="194"/>
                  <a:pt x="290" y="248"/>
                  <a:pt x="224" y="248"/>
                </a:cubicBezTo>
                <a:close/>
                <a:moveTo>
                  <a:pt x="194" y="304"/>
                </a:moveTo>
                <a:lnTo>
                  <a:pt x="255" y="304"/>
                </a:lnTo>
                <a:cubicBezTo>
                  <a:pt x="264" y="304"/>
                  <a:pt x="272" y="312"/>
                  <a:pt x="272" y="322"/>
                </a:cubicBezTo>
                <a:cubicBezTo>
                  <a:pt x="272" y="326"/>
                  <a:pt x="271" y="330"/>
                  <a:pt x="268" y="333"/>
                </a:cubicBezTo>
                <a:lnTo>
                  <a:pt x="240" y="365"/>
                </a:lnTo>
                <a:lnTo>
                  <a:pt x="271" y="480"/>
                </a:lnTo>
                <a:lnTo>
                  <a:pt x="272" y="480"/>
                </a:lnTo>
                <a:lnTo>
                  <a:pt x="307" y="342"/>
                </a:lnTo>
                <a:cubicBezTo>
                  <a:pt x="309" y="333"/>
                  <a:pt x="318" y="328"/>
                  <a:pt x="326" y="331"/>
                </a:cubicBezTo>
                <a:cubicBezTo>
                  <a:pt x="388" y="354"/>
                  <a:pt x="432" y="414"/>
                  <a:pt x="432" y="485"/>
                </a:cubicBezTo>
                <a:cubicBezTo>
                  <a:pt x="432" y="500"/>
                  <a:pt x="420" y="512"/>
                  <a:pt x="405" y="512"/>
                </a:cubicBezTo>
                <a:lnTo>
                  <a:pt x="43" y="512"/>
                </a:lnTo>
                <a:cubicBezTo>
                  <a:pt x="28" y="512"/>
                  <a:pt x="16" y="500"/>
                  <a:pt x="16" y="485"/>
                </a:cubicBezTo>
                <a:cubicBezTo>
                  <a:pt x="16" y="414"/>
                  <a:pt x="60" y="354"/>
                  <a:pt x="122" y="331"/>
                </a:cubicBezTo>
                <a:cubicBezTo>
                  <a:pt x="130" y="328"/>
                  <a:pt x="139" y="333"/>
                  <a:pt x="141" y="342"/>
                </a:cubicBezTo>
                <a:lnTo>
                  <a:pt x="176" y="480"/>
                </a:lnTo>
                <a:lnTo>
                  <a:pt x="177" y="480"/>
                </a:lnTo>
                <a:lnTo>
                  <a:pt x="208" y="365"/>
                </a:lnTo>
                <a:lnTo>
                  <a:pt x="180" y="333"/>
                </a:lnTo>
                <a:cubicBezTo>
                  <a:pt x="178" y="330"/>
                  <a:pt x="176" y="326"/>
                  <a:pt x="176" y="322"/>
                </a:cubicBezTo>
                <a:cubicBezTo>
                  <a:pt x="176" y="312"/>
                  <a:pt x="184" y="304"/>
                  <a:pt x="194" y="304"/>
                </a:cubicBez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11" name="role1"/>
          <p:cNvSpPr txBox="1"/>
          <p:nvPr/>
        </p:nvSpPr>
        <p:spPr>
          <a:xfrm>
            <a:off x="1587500" y="28575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8FAFC"/>
                </a:solidFill>
                <a:latin typeface="MiSans"/>
                <a:ea typeface="MiSans"/>
              </a:rPr>
              <a:t>Manager</a:t>
            </a:r>
            <a:endParaRPr lang="en-US" sz="2300" noProof="1"/>
          </a:p>
        </p:txBody>
      </p:sp>
      <p:sp>
        <p:nvSpPr>
          <p:cNvPr id="12" name="role-desc1"/>
          <p:cNvSpPr txBox="1"/>
          <p:nvPr/>
        </p:nvSpPr>
        <p:spPr>
          <a:xfrm>
            <a:off x="5207000" y="29083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Read only · wage hidden</a:t>
            </a:r>
            <a:endParaRPr lang="en-US" sz="1700" noProof="1"/>
          </a:p>
        </p:txBody>
      </p:sp>
      <p:sp>
        <p:nvSpPr>
          <p:cNvPr id="13" name="role-line1"/>
          <p:cNvSpPr/>
          <p:nvPr/>
        </p:nvSpPr>
        <p:spPr>
          <a:xfrm>
            <a:off x="825500" y="3746500"/>
            <a:ext cx="10414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4" name="role-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eyJpY29uTmFtZSI6ImZhczp1c2VyIn0</pptd:icon>
              </p:ext>
            </p:extLst>
          </p:nvPr>
        </p:nvSpPr>
        <p:spPr>
          <a:xfrm>
            <a:off x="825500" y="4191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38BDF8"/>
          </a:solidFill>
          <a:ln>
            <a:noFill/>
          </a:ln>
        </p:spPr>
      </p:sp>
      <p:sp>
        <p:nvSpPr>
          <p:cNvPr id="15" name="role2"/>
          <p:cNvSpPr txBox="1"/>
          <p:nvPr/>
        </p:nvSpPr>
        <p:spPr>
          <a:xfrm>
            <a:off x="1587500" y="41275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F8FAFC"/>
                </a:solidFill>
                <a:latin typeface="MiSans"/>
                <a:ea typeface="MiSans"/>
              </a:rPr>
              <a:t>Staff</a:t>
            </a:r>
            <a:endParaRPr lang="en-US" sz="2300" noProof="1"/>
          </a:p>
        </p:txBody>
      </p:sp>
      <p:sp>
        <p:nvSpPr>
          <p:cNvPr id="16" name="role-desc2"/>
          <p:cNvSpPr txBox="1"/>
          <p:nvPr/>
        </p:nvSpPr>
        <p:spPr>
          <a:xfrm>
            <a:off x="5207000" y="4178300"/>
            <a:ext cx="584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Own shifts and leave portal</a:t>
            </a:r>
            <a:endParaRPr lang="en-US" sz="1700" noProof="1"/>
          </a:p>
        </p:txBody>
      </p:sp>
      <p:sp>
        <p:nvSpPr>
          <p:cNvPr id="17" name="role-line2"/>
          <p:cNvSpPr/>
          <p:nvPr/>
        </p:nvSpPr>
        <p:spPr>
          <a:xfrm>
            <a:off x="825500" y="5016500"/>
            <a:ext cx="10414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8" name="tech-label"/>
          <p:cNvSpPr txBox="1"/>
          <p:nvPr/>
        </p:nvSpPr>
        <p:spPr>
          <a:xfrm>
            <a:off x="825500" y="56769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b="1" kern="0" spc="140" noProof="1">
                <a:solidFill>
                  <a:srgbClr val="38BDF8"/>
                </a:solidFill>
                <a:latin typeface="MiSans"/>
                <a:ea typeface="MiSans"/>
              </a:rPr>
              <a:t>IMPLEMENTATION</a:t>
            </a:r>
            <a:endParaRPr lang="en-US" sz="1000" noProof="1"/>
          </a:p>
        </p:txBody>
      </p:sp>
      <p:sp>
        <p:nvSpPr>
          <p:cNvPr id="19" name="tech"/>
          <p:cNvSpPr txBox="1"/>
          <p:nvPr/>
        </p:nvSpPr>
        <p:spPr>
          <a:xfrm>
            <a:off x="2730500" y="5588000"/>
            <a:ext cx="825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500" noProof="1">
                <a:solidFill>
                  <a:srgbClr val="F8FAFC"/>
                </a:solidFill>
                <a:latin typeface="MiSans"/>
                <a:ea typeface="MiSans"/>
              </a:rPr>
              <a:t>React + TypeScript · Browser localStorage</a:t>
            </a:r>
            <a:endParaRPr lang="en-US" sz="15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Role and domain sketch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DESIGN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08</a:t>
            </a:r>
            <a:endParaRPr lang="en-US" sz="1000" noProof="1"/>
          </a:p>
        </p:txBody>
      </p:sp>
      <p:pic>
        <p:nvPicPr>
          <p:cNvPr id="6" name="sketch"/>
          <p:cNvPicPr/>
          <p:nvPr/>
        </p:nvPicPr>
        <p:blipFill>
          <a:blip r:embed="rId2"/>
          <a:srcRect l="-49730" r="-49730"/>
          <a:stretch>
            <a:fillRect/>
          </a:stretch>
        </p:blipFill>
        <p:spPr>
          <a:xfrm>
            <a:off x="571500" y="1460500"/>
            <a:ext cx="6350000" cy="4508500"/>
          </a:xfrm>
          <a:prstGeom prst="rect">
            <a:avLst/>
          </a:prstGeom>
          <a:ln>
            <a:noFill/>
          </a:ln>
        </p:spPr>
      </p:pic>
      <p:sp>
        <p:nvSpPr>
          <p:cNvPr id="7" name="sketch-border"/>
          <p:cNvSpPr/>
          <p:nvPr/>
        </p:nvSpPr>
        <p:spPr>
          <a:xfrm>
            <a:off x="571500" y="1460500"/>
            <a:ext cx="6350000" cy="4508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8" name="domain-n0"/>
          <p:cNvSpPr txBox="1"/>
          <p:nvPr/>
        </p:nvSpPr>
        <p:spPr>
          <a:xfrm>
            <a:off x="7429500" y="1841500"/>
            <a:ext cx="44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9" name="domain-t0"/>
          <p:cNvSpPr txBox="1"/>
          <p:nvPr/>
        </p:nvSpPr>
        <p:spPr>
          <a:xfrm>
            <a:off x="8001000" y="1841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Users</a:t>
            </a:r>
            <a:endParaRPr lang="en-US" sz="2300" noProof="1"/>
          </a:p>
        </p:txBody>
      </p:sp>
      <p:sp>
        <p:nvSpPr>
          <p:cNvPr id="10" name="domain-b0"/>
          <p:cNvSpPr txBox="1"/>
          <p:nvPr/>
        </p:nvSpPr>
        <p:spPr>
          <a:xfrm>
            <a:off x="8001000" y="23241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Roles and access</a:t>
            </a:r>
            <a:endParaRPr lang="en-US" sz="1400" noProof="1"/>
          </a:p>
        </p:txBody>
      </p:sp>
      <p:sp>
        <p:nvSpPr>
          <p:cNvPr id="11" name="domain-line0"/>
          <p:cNvSpPr/>
          <p:nvPr/>
        </p:nvSpPr>
        <p:spPr>
          <a:xfrm>
            <a:off x="7429500" y="2755900"/>
            <a:ext cx="3873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2" name="domain-n1"/>
          <p:cNvSpPr txBox="1"/>
          <p:nvPr/>
        </p:nvSpPr>
        <p:spPr>
          <a:xfrm>
            <a:off x="7429500" y="3048000"/>
            <a:ext cx="44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3" name="domain-t1"/>
          <p:cNvSpPr txBox="1"/>
          <p:nvPr/>
        </p:nvSpPr>
        <p:spPr>
          <a:xfrm>
            <a:off x="8001000" y="30480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Records</a:t>
            </a:r>
            <a:endParaRPr lang="en-US" sz="2300" noProof="1"/>
          </a:p>
        </p:txBody>
      </p:sp>
      <p:sp>
        <p:nvSpPr>
          <p:cNvPr id="14" name="domain-b1"/>
          <p:cNvSpPr txBox="1"/>
          <p:nvPr/>
        </p:nvSpPr>
        <p:spPr>
          <a:xfrm>
            <a:off x="8001000" y="35306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Employee information</a:t>
            </a:r>
            <a:endParaRPr lang="en-US" sz="1400" noProof="1"/>
          </a:p>
        </p:txBody>
      </p:sp>
      <p:sp>
        <p:nvSpPr>
          <p:cNvPr id="15" name="domain-line1"/>
          <p:cNvSpPr/>
          <p:nvPr/>
        </p:nvSpPr>
        <p:spPr>
          <a:xfrm>
            <a:off x="7429500" y="3962400"/>
            <a:ext cx="3873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6" name="domain-n2"/>
          <p:cNvSpPr txBox="1"/>
          <p:nvPr/>
        </p:nvSpPr>
        <p:spPr>
          <a:xfrm>
            <a:off x="7429500" y="4254500"/>
            <a:ext cx="44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7" name="domain-t2"/>
          <p:cNvSpPr txBox="1"/>
          <p:nvPr/>
        </p:nvSpPr>
        <p:spPr>
          <a:xfrm>
            <a:off x="8001000" y="4254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F172A"/>
                </a:solidFill>
                <a:latin typeface="MiSans"/>
                <a:ea typeface="MiSans"/>
              </a:rPr>
              <a:t>Shifts and leave</a:t>
            </a:r>
            <a:endParaRPr lang="en-US" sz="2300" noProof="1"/>
          </a:p>
        </p:txBody>
      </p:sp>
      <p:sp>
        <p:nvSpPr>
          <p:cNvPr id="18" name="domain-b2"/>
          <p:cNvSpPr txBox="1"/>
          <p:nvPr/>
        </p:nvSpPr>
        <p:spPr>
          <a:xfrm>
            <a:off x="8001000" y="47371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Scheduling rules and approval</a:t>
            </a:r>
            <a:endParaRPr lang="en-US" sz="1400" noProof="1"/>
          </a:p>
        </p:txBody>
      </p:sp>
      <p:sp>
        <p:nvSpPr>
          <p:cNvPr id="19" name="domain-line2"/>
          <p:cNvSpPr/>
          <p:nvPr/>
        </p:nvSpPr>
        <p:spPr>
          <a:xfrm>
            <a:off x="7429500" y="5168900"/>
            <a:ext cx="38735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caption"/>
          <p:cNvSpPr txBox="1"/>
          <p:nvPr/>
        </p:nvSpPr>
        <p:spPr>
          <a:xfrm>
            <a:off x="609600" y="61595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Project design evidence · role and domain sketch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Detailed class model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DESIGN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09</a:t>
            </a:r>
            <a:endParaRPr lang="en-US" sz="1000" noProof="1"/>
          </a:p>
        </p:txBody>
      </p:sp>
      <p:sp>
        <p:nvSpPr>
          <p:cNvPr id="6" name="image-back"/>
          <p:cNvSpPr/>
          <p:nvPr/>
        </p:nvSpPr>
        <p:spPr>
          <a:xfrm>
            <a:off x="381000" y="1333500"/>
            <a:ext cx="11430000" cy="495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7" name="class-model"/>
          <p:cNvPicPr/>
          <p:nvPr/>
        </p:nvPicPr>
        <p:blipFill>
          <a:blip r:embed="rId2"/>
          <a:srcRect l="-21329" r="-21329"/>
          <a:stretch>
            <a:fillRect/>
          </a:stretch>
        </p:blipFill>
        <p:spPr>
          <a:xfrm>
            <a:off x="508000" y="1422400"/>
            <a:ext cx="11176000" cy="4699000"/>
          </a:xfrm>
          <a:prstGeom prst="rect">
            <a:avLst/>
          </a:prstGeom>
          <a:ln>
            <a:noFill/>
          </a:ln>
        </p:spPr>
      </p:pic>
      <p:sp>
        <p:nvSpPr>
          <p:cNvPr id="8" name="caption"/>
          <p:cNvSpPr txBox="1"/>
          <p:nvPr/>
        </p:nvSpPr>
        <p:spPr>
          <a:xfrm>
            <a:off x="571500" y="61849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Detailed domain model · design evidence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Plan and task tracking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PROCESS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10</a:t>
            </a:r>
            <a:endParaRPr lang="en-US" sz="1000" noProof="1"/>
          </a:p>
        </p:txBody>
      </p:sp>
      <p:sp>
        <p:nvSpPr>
          <p:cNvPr id="6" name="board-label"/>
          <p:cNvSpPr txBox="1"/>
          <p:nvPr/>
        </p:nvSpPr>
        <p:spPr>
          <a:xfrm>
            <a:off x="609600" y="14224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30" noProof="1">
                <a:solidFill>
                  <a:srgbClr val="4F46E5"/>
                </a:solidFill>
                <a:latin typeface="MiSans"/>
                <a:ea typeface="MiSans"/>
              </a:rPr>
              <a:t>TASK BOARD</a:t>
            </a:r>
            <a:endParaRPr lang="en-US" sz="1100" noProof="1"/>
          </a:p>
        </p:txBody>
      </p:sp>
      <p:sp>
        <p:nvSpPr>
          <p:cNvPr id="7" name="timeline-label"/>
          <p:cNvSpPr txBox="1"/>
          <p:nvPr/>
        </p:nvSpPr>
        <p:spPr>
          <a:xfrm>
            <a:off x="8382000" y="1422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30" noProof="1">
                <a:solidFill>
                  <a:srgbClr val="4F46E5"/>
                </a:solidFill>
                <a:latin typeface="MiSans"/>
                <a:ea typeface="MiSans"/>
              </a:rPr>
              <a:t>PLAN / STATUS</a:t>
            </a:r>
            <a:endParaRPr lang="en-US" sz="1100" noProof="1"/>
          </a:p>
        </p:txBody>
      </p:sp>
      <p:pic>
        <p:nvPicPr>
          <p:cNvPr id="8" name="board"/>
          <p:cNvPicPr/>
          <p:nvPr/>
        </p:nvPicPr>
        <p:blipFill>
          <a:blip r:embed="rId2"/>
          <a:srcRect l="-21951" r="-21951"/>
          <a:stretch>
            <a:fillRect/>
          </a:stretch>
        </p:blipFill>
        <p:spPr>
          <a:xfrm>
            <a:off x="571500" y="1778000"/>
            <a:ext cx="7239000" cy="3619500"/>
          </a:xfrm>
          <a:prstGeom prst="rect">
            <a:avLst/>
          </a:prstGeom>
          <a:ln>
            <a:noFill/>
          </a:ln>
        </p:spPr>
      </p:pic>
      <p:sp>
        <p:nvSpPr>
          <p:cNvPr id="9" name="board-border"/>
          <p:cNvSpPr/>
          <p:nvPr/>
        </p:nvSpPr>
        <p:spPr>
          <a:xfrm>
            <a:off x="571500" y="1778000"/>
            <a:ext cx="7239000" cy="3619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</p:sp>
      <p:pic>
        <p:nvPicPr>
          <p:cNvPr id="10" name="timeline"/>
          <p:cNvPicPr/>
          <p:nvPr/>
        </p:nvPicPr>
        <p:blipFill>
          <a:blip r:embed="rId3"/>
          <a:srcRect l="-15850" r="-15850"/>
          <a:stretch>
            <a:fillRect/>
          </a:stretch>
        </p:blipFill>
        <p:spPr>
          <a:xfrm>
            <a:off x="8255000" y="1778000"/>
            <a:ext cx="3365500" cy="3619500"/>
          </a:xfrm>
          <a:prstGeom prst="rect">
            <a:avLst/>
          </a:prstGeom>
          <a:ln>
            <a:noFill/>
          </a:ln>
        </p:spPr>
      </p:pic>
      <p:sp>
        <p:nvSpPr>
          <p:cNvPr id="11" name="timeline-border"/>
          <p:cNvSpPr/>
          <p:nvPr/>
        </p:nvSpPr>
        <p:spPr>
          <a:xfrm>
            <a:off x="8255000" y="1778000"/>
            <a:ext cx="3365500" cy="3619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12" name="phase-band"/>
          <p:cNvSpPr/>
          <p:nvPr/>
        </p:nvSpPr>
        <p:spPr>
          <a:xfrm>
            <a:off x="609600" y="5727700"/>
            <a:ext cx="10972800" cy="533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3" name="phase-75"/>
          <p:cNvSpPr txBox="1"/>
          <p:nvPr/>
        </p:nvSpPr>
        <p:spPr>
          <a:xfrm>
            <a:off x="9525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8FAFC"/>
                </a:solidFill>
                <a:latin typeface="MiSans"/>
                <a:ea typeface="MiSans"/>
              </a:rPr>
              <a:t>W4–6  Design</a:t>
            </a:r>
            <a:endParaRPr lang="en-US" sz="1500" noProof="1"/>
          </a:p>
        </p:txBody>
      </p:sp>
      <p:sp>
        <p:nvSpPr>
          <p:cNvPr id="14" name="phase-365"/>
          <p:cNvSpPr txBox="1"/>
          <p:nvPr/>
        </p:nvSpPr>
        <p:spPr>
          <a:xfrm>
            <a:off x="46355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8FAFC"/>
                </a:solidFill>
                <a:latin typeface="MiSans"/>
                <a:ea typeface="MiSans"/>
              </a:rPr>
              <a:t>W7–8  Build</a:t>
            </a:r>
            <a:endParaRPr lang="en-US" sz="1500" noProof="1"/>
          </a:p>
        </p:txBody>
      </p:sp>
      <p:sp>
        <p:nvSpPr>
          <p:cNvPr id="15" name="phase-655"/>
          <p:cNvSpPr txBox="1"/>
          <p:nvPr/>
        </p:nvSpPr>
        <p:spPr>
          <a:xfrm>
            <a:off x="8318500" y="58547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F8FAFC"/>
                </a:solidFill>
                <a:latin typeface="MiSans"/>
                <a:ea typeface="MiSans"/>
              </a:rPr>
              <a:t>W8–9  Test and deliver</a:t>
            </a:r>
            <a:endParaRPr lang="en-US" sz="15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Division of labor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DIVISION OF LABOR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11</a:t>
            </a:r>
            <a:endParaRPr lang="en-US" sz="1000" noProof="1"/>
          </a:p>
        </p:txBody>
      </p:sp>
      <p:sp>
        <p:nvSpPr>
          <p:cNvPr id="6" name="name-0"/>
          <p:cNvSpPr txBox="1"/>
          <p:nvPr/>
        </p:nvSpPr>
        <p:spPr>
          <a:xfrm>
            <a:off x="825500" y="1651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Wang Weihao</a:t>
            </a:r>
            <a:endParaRPr lang="en-US" sz="2100" noProof="1"/>
          </a:p>
        </p:txBody>
      </p:sp>
      <p:sp>
        <p:nvSpPr>
          <p:cNvPr id="7" name="role-0"/>
          <p:cNvSpPr txBox="1"/>
          <p:nvPr/>
        </p:nvSpPr>
        <p:spPr>
          <a:xfrm>
            <a:off x="825500" y="2133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Team lead + backend</a:t>
            </a:r>
            <a:endParaRPr lang="en-US" sz="1500" noProof="1"/>
          </a:p>
        </p:txBody>
      </p:sp>
      <p:sp>
        <p:nvSpPr>
          <p:cNvPr id="8" name="team-line-0"/>
          <p:cNvSpPr/>
          <p:nvPr/>
        </p:nvSpPr>
        <p:spPr>
          <a:xfrm>
            <a:off x="825500" y="2654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9" name="team-mark-0"/>
          <p:cNvSpPr/>
          <p:nvPr/>
        </p:nvSpPr>
        <p:spPr>
          <a:xfrm>
            <a:off x="596900" y="1701800"/>
            <a:ext cx="76200" cy="279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name-1"/>
          <p:cNvSpPr txBox="1"/>
          <p:nvPr/>
        </p:nvSpPr>
        <p:spPr>
          <a:xfrm>
            <a:off x="6413500" y="1651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Wang Yijie</a:t>
            </a:r>
            <a:endParaRPr lang="en-US" sz="2100" noProof="1"/>
          </a:p>
        </p:txBody>
      </p:sp>
      <p:sp>
        <p:nvSpPr>
          <p:cNvPr id="11" name="role-1"/>
          <p:cNvSpPr txBox="1"/>
          <p:nvPr/>
        </p:nvSpPr>
        <p:spPr>
          <a:xfrm>
            <a:off x="6413500" y="2133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Frontend </a:t>
            </a:r>
            <a:r>
              <a:rPr lang="en-US" altLang="zh-CN" sz="1500" noProof="1">
                <a:solidFill>
                  <a:srgbClr val="94A3B8"/>
                </a:solidFill>
                <a:latin typeface="MiSans"/>
                <a:ea typeface="MiSans"/>
              </a:rPr>
              <a:t>design   PPTreport</a:t>
            </a:r>
            <a:endParaRPr lang="en-US" sz="1500" noProof="1"/>
          </a:p>
        </p:txBody>
      </p:sp>
      <p:sp>
        <p:nvSpPr>
          <p:cNvPr id="12" name="team-line-1"/>
          <p:cNvSpPr/>
          <p:nvPr/>
        </p:nvSpPr>
        <p:spPr>
          <a:xfrm>
            <a:off x="6413500" y="2654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3" name="team-mark-1"/>
          <p:cNvSpPr/>
          <p:nvPr/>
        </p:nvSpPr>
        <p:spPr>
          <a:xfrm>
            <a:off x="6184900" y="1701800"/>
            <a:ext cx="76200" cy="279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4" name="name-2"/>
          <p:cNvSpPr txBox="1"/>
          <p:nvPr/>
        </p:nvSpPr>
        <p:spPr>
          <a:xfrm>
            <a:off x="825500" y="29845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Zou Yuhan</a:t>
            </a:r>
            <a:endParaRPr lang="en-US" sz="2100" noProof="1"/>
          </a:p>
        </p:txBody>
      </p:sp>
      <p:sp>
        <p:nvSpPr>
          <p:cNvPr id="15" name="role-2"/>
          <p:cNvSpPr txBox="1"/>
          <p:nvPr/>
        </p:nvSpPr>
        <p:spPr>
          <a:xfrm>
            <a:off x="825500" y="34671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Class diagrams + board</a:t>
            </a:r>
            <a:endParaRPr lang="en-US" sz="1500" noProof="1"/>
          </a:p>
        </p:txBody>
      </p:sp>
      <p:sp>
        <p:nvSpPr>
          <p:cNvPr id="16" name="team-line-2"/>
          <p:cNvSpPr/>
          <p:nvPr/>
        </p:nvSpPr>
        <p:spPr>
          <a:xfrm>
            <a:off x="825500" y="39878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7" name="team-mark-2"/>
          <p:cNvSpPr/>
          <p:nvPr/>
        </p:nvSpPr>
        <p:spPr>
          <a:xfrm>
            <a:off x="596900" y="3035300"/>
            <a:ext cx="76200" cy="279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8" name="name-3"/>
          <p:cNvSpPr txBox="1"/>
          <p:nvPr/>
        </p:nvSpPr>
        <p:spPr>
          <a:xfrm>
            <a:off x="6413500" y="29845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Xue Yifei</a:t>
            </a:r>
            <a:endParaRPr lang="en-US" sz="2100" noProof="1"/>
          </a:p>
        </p:txBody>
      </p:sp>
      <p:sp>
        <p:nvSpPr>
          <p:cNvPr id="19" name="role-3"/>
          <p:cNvSpPr txBox="1"/>
          <p:nvPr/>
        </p:nvSpPr>
        <p:spPr>
          <a:xfrm>
            <a:off x="6413500" y="34671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zh-CN" sz="1500" noProof="1">
                <a:solidFill>
                  <a:srgbClr val="94A3B8"/>
                </a:solidFill>
              </a:rPr>
              <a:t>Class diagrams + board</a:t>
            </a:r>
            <a:endParaRPr lang="en-US" altLang="zh-CN" sz="1500" noProof="1"/>
          </a:p>
        </p:txBody>
      </p:sp>
      <p:sp>
        <p:nvSpPr>
          <p:cNvPr id="20" name="team-line-3"/>
          <p:cNvSpPr/>
          <p:nvPr/>
        </p:nvSpPr>
        <p:spPr>
          <a:xfrm>
            <a:off x="6413500" y="39878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21" name="team-mark-3"/>
          <p:cNvSpPr/>
          <p:nvPr/>
        </p:nvSpPr>
        <p:spPr>
          <a:xfrm>
            <a:off x="6184900" y="3035300"/>
            <a:ext cx="76200" cy="279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2" name="name-4"/>
          <p:cNvSpPr txBox="1"/>
          <p:nvPr/>
        </p:nvSpPr>
        <p:spPr>
          <a:xfrm>
            <a:off x="825500" y="4318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Li Yang</a:t>
            </a:r>
            <a:endParaRPr lang="en-US" sz="2100" noProof="1"/>
          </a:p>
        </p:txBody>
      </p:sp>
      <p:sp>
        <p:nvSpPr>
          <p:cNvPr id="23" name="role-4"/>
          <p:cNvSpPr txBox="1"/>
          <p:nvPr/>
        </p:nvSpPr>
        <p:spPr>
          <a:xfrm>
            <a:off x="825500" y="4800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Testing</a:t>
            </a:r>
            <a:endParaRPr lang="en-US" sz="1500" noProof="1"/>
          </a:p>
        </p:txBody>
      </p:sp>
      <p:sp>
        <p:nvSpPr>
          <p:cNvPr id="24" name="team-line-4"/>
          <p:cNvSpPr/>
          <p:nvPr/>
        </p:nvSpPr>
        <p:spPr>
          <a:xfrm>
            <a:off x="825500" y="5321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25" name="team-mark-4"/>
          <p:cNvSpPr/>
          <p:nvPr/>
        </p:nvSpPr>
        <p:spPr>
          <a:xfrm>
            <a:off x="596900" y="4368800"/>
            <a:ext cx="76200" cy="279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6" name="name-5"/>
          <p:cNvSpPr txBox="1"/>
          <p:nvPr/>
        </p:nvSpPr>
        <p:spPr>
          <a:xfrm>
            <a:off x="6413500" y="43180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Jiang Yiming</a:t>
            </a:r>
            <a:endParaRPr lang="en-US" sz="2100" noProof="1"/>
          </a:p>
        </p:txBody>
      </p:sp>
      <p:sp>
        <p:nvSpPr>
          <p:cNvPr id="27" name="role-5"/>
          <p:cNvSpPr txBox="1"/>
          <p:nvPr/>
        </p:nvSpPr>
        <p:spPr>
          <a:xfrm>
            <a:off x="6413500" y="48006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94A3B8"/>
                </a:solidFill>
                <a:latin typeface="MiSans"/>
                <a:ea typeface="MiSans"/>
              </a:rPr>
              <a:t>Documentation</a:t>
            </a:r>
            <a:endParaRPr lang="en-US" sz="1500" noProof="1"/>
          </a:p>
        </p:txBody>
      </p:sp>
      <p:sp>
        <p:nvSpPr>
          <p:cNvPr id="28" name="team-line-5"/>
          <p:cNvSpPr/>
          <p:nvPr/>
        </p:nvSpPr>
        <p:spPr>
          <a:xfrm>
            <a:off x="6413500" y="5321300"/>
            <a:ext cx="4889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29" name="team-mark-5"/>
          <p:cNvSpPr/>
          <p:nvPr/>
        </p:nvSpPr>
        <p:spPr>
          <a:xfrm>
            <a:off x="6184900" y="4368800"/>
            <a:ext cx="76200" cy="2794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altLang="zh-CN" sz="3100" b="1" noProof="1">
                <a:solidFill>
                  <a:srgbClr val="0F172A"/>
                </a:solidFill>
                <a:latin typeface="MiSans"/>
                <a:ea typeface="MiSans"/>
              </a:rPr>
              <a:t>T</a:t>
            </a: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est results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TESTING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12</a:t>
            </a:r>
            <a:endParaRPr lang="en-US" sz="1000" noProof="1"/>
          </a:p>
        </p:txBody>
      </p:sp>
      <p:sp>
        <p:nvSpPr>
          <p:cNvPr id="6" name="total"/>
          <p:cNvSpPr txBox="1"/>
          <p:nvPr/>
        </p:nvSpPr>
        <p:spPr>
          <a:xfrm>
            <a:off x="698500" y="1651000"/>
            <a:ext cx="3619500" cy="1079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400" b="1" noProof="1">
                <a:solidFill>
                  <a:srgbClr val="4F46E5"/>
                </a:solidFill>
                <a:latin typeface="MiSans"/>
                <a:ea typeface="MiSans"/>
              </a:rPr>
              <a:t>28 / 28</a:t>
            </a:r>
            <a:endParaRPr lang="en-US" sz="5400" noProof="1"/>
          </a:p>
        </p:txBody>
      </p:sp>
      <p:sp>
        <p:nvSpPr>
          <p:cNvPr id="7" name="passed"/>
          <p:cNvSpPr txBox="1"/>
          <p:nvPr/>
        </p:nvSpPr>
        <p:spPr>
          <a:xfrm>
            <a:off x="736600" y="28194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F172A"/>
                </a:solidFill>
                <a:latin typeface="MiSans"/>
                <a:ea typeface="MiSans"/>
              </a:rPr>
              <a:t>reported cases passed</a:t>
            </a:r>
            <a:endParaRPr lang="en-US" sz="1800" noProof="1"/>
          </a:p>
        </p:txBody>
      </p:sp>
      <p:sp>
        <p:nvSpPr>
          <p:cNvPr id="8" name="date"/>
          <p:cNvSpPr txBox="1"/>
          <p:nvPr/>
        </p:nvSpPr>
        <p:spPr>
          <a:xfrm>
            <a:off x="736600" y="33655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64748B"/>
                </a:solidFill>
                <a:latin typeface="MiSans"/>
                <a:ea typeface="MiSans"/>
              </a:rPr>
              <a:t>22 October 2026</a:t>
            </a:r>
            <a:endParaRPr lang="en-US" sz="1400" noProof="1"/>
          </a:p>
        </p:txBody>
      </p:sp>
      <p:sp>
        <p:nvSpPr>
          <p:cNvPr id="9" name="chart-rule"/>
          <p:cNvSpPr/>
          <p:nvPr/>
        </p:nvSpPr>
        <p:spPr>
          <a:xfrm>
            <a:off x="4635500" y="5334000"/>
            <a:ext cx="666750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bar-0"/>
          <p:cNvSpPr/>
          <p:nvPr/>
        </p:nvSpPr>
        <p:spPr>
          <a:xfrm>
            <a:off x="4889500" y="2578100"/>
            <a:ext cx="546100" cy="27559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1" name="value-0"/>
          <p:cNvSpPr txBox="1"/>
          <p:nvPr/>
        </p:nvSpPr>
        <p:spPr>
          <a:xfrm>
            <a:off x="4889500" y="22860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7</a:t>
            </a:r>
            <a:endParaRPr lang="en-US" sz="1300" noProof="1"/>
          </a:p>
        </p:txBody>
      </p:sp>
      <p:sp>
        <p:nvSpPr>
          <p:cNvPr id="12" name="cat-0"/>
          <p:cNvSpPr txBox="1"/>
          <p:nvPr/>
        </p:nvSpPr>
        <p:spPr>
          <a:xfrm>
            <a:off x="47371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Login / roles</a:t>
            </a:r>
            <a:endParaRPr lang="en-US" sz="1000" noProof="1"/>
          </a:p>
        </p:txBody>
      </p:sp>
      <p:sp>
        <p:nvSpPr>
          <p:cNvPr id="13" name="bar-1"/>
          <p:cNvSpPr/>
          <p:nvPr/>
        </p:nvSpPr>
        <p:spPr>
          <a:xfrm>
            <a:off x="5816600" y="2578100"/>
            <a:ext cx="546100" cy="27559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4" name="value-1"/>
          <p:cNvSpPr txBox="1"/>
          <p:nvPr/>
        </p:nvSpPr>
        <p:spPr>
          <a:xfrm>
            <a:off x="5816600" y="22860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7</a:t>
            </a:r>
            <a:endParaRPr lang="en-US" sz="1300" noProof="1"/>
          </a:p>
        </p:txBody>
      </p:sp>
      <p:sp>
        <p:nvSpPr>
          <p:cNvPr id="15" name="cat-1"/>
          <p:cNvSpPr txBox="1"/>
          <p:nvPr/>
        </p:nvSpPr>
        <p:spPr>
          <a:xfrm>
            <a:off x="56642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Employees</a:t>
            </a:r>
            <a:endParaRPr lang="en-US" sz="1000" noProof="1"/>
          </a:p>
        </p:txBody>
      </p:sp>
      <p:sp>
        <p:nvSpPr>
          <p:cNvPr id="16" name="bar-2"/>
          <p:cNvSpPr/>
          <p:nvPr/>
        </p:nvSpPr>
        <p:spPr>
          <a:xfrm>
            <a:off x="6743700" y="2971800"/>
            <a:ext cx="546100" cy="23622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7" name="value-2"/>
          <p:cNvSpPr txBox="1"/>
          <p:nvPr/>
        </p:nvSpPr>
        <p:spPr>
          <a:xfrm>
            <a:off x="6743700" y="26797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6</a:t>
            </a:r>
            <a:endParaRPr lang="en-US" sz="1300" noProof="1"/>
          </a:p>
        </p:txBody>
      </p:sp>
      <p:sp>
        <p:nvSpPr>
          <p:cNvPr id="18" name="cat-2"/>
          <p:cNvSpPr txBox="1"/>
          <p:nvPr/>
        </p:nvSpPr>
        <p:spPr>
          <a:xfrm>
            <a:off x="65913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Scheduling</a:t>
            </a:r>
            <a:endParaRPr lang="en-US" sz="1000" noProof="1"/>
          </a:p>
        </p:txBody>
      </p:sp>
      <p:sp>
        <p:nvSpPr>
          <p:cNvPr id="19" name="bar-3"/>
          <p:cNvSpPr/>
          <p:nvPr/>
        </p:nvSpPr>
        <p:spPr>
          <a:xfrm>
            <a:off x="7670800" y="4940300"/>
            <a:ext cx="546100" cy="3937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0" name="value-3"/>
          <p:cNvSpPr txBox="1"/>
          <p:nvPr/>
        </p:nvSpPr>
        <p:spPr>
          <a:xfrm>
            <a:off x="7670800" y="46482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21" name="cat-3"/>
          <p:cNvSpPr txBox="1"/>
          <p:nvPr/>
        </p:nvSpPr>
        <p:spPr>
          <a:xfrm>
            <a:off x="75184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Export</a:t>
            </a:r>
            <a:endParaRPr lang="en-US" sz="1000" noProof="1"/>
          </a:p>
        </p:txBody>
      </p:sp>
      <p:sp>
        <p:nvSpPr>
          <p:cNvPr id="22" name="bar-4"/>
          <p:cNvSpPr/>
          <p:nvPr/>
        </p:nvSpPr>
        <p:spPr>
          <a:xfrm>
            <a:off x="8597900" y="3365500"/>
            <a:ext cx="546100" cy="196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3" name="value-4"/>
          <p:cNvSpPr txBox="1"/>
          <p:nvPr/>
        </p:nvSpPr>
        <p:spPr>
          <a:xfrm>
            <a:off x="8597900" y="30734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5</a:t>
            </a:r>
            <a:endParaRPr lang="en-US" sz="1300" noProof="1"/>
          </a:p>
        </p:txBody>
      </p:sp>
      <p:sp>
        <p:nvSpPr>
          <p:cNvPr id="24" name="cat-4"/>
          <p:cNvSpPr txBox="1"/>
          <p:nvPr/>
        </p:nvSpPr>
        <p:spPr>
          <a:xfrm>
            <a:off x="84455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Leave</a:t>
            </a:r>
            <a:endParaRPr lang="en-US" sz="1000" noProof="1"/>
          </a:p>
        </p:txBody>
      </p:sp>
      <p:sp>
        <p:nvSpPr>
          <p:cNvPr id="25" name="bar-5"/>
          <p:cNvSpPr/>
          <p:nvPr/>
        </p:nvSpPr>
        <p:spPr>
          <a:xfrm>
            <a:off x="9525000" y="4940300"/>
            <a:ext cx="546100" cy="3937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6" name="value-5"/>
          <p:cNvSpPr txBox="1"/>
          <p:nvPr/>
        </p:nvSpPr>
        <p:spPr>
          <a:xfrm>
            <a:off x="9525000" y="46482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27" name="cat-5"/>
          <p:cNvSpPr txBox="1"/>
          <p:nvPr/>
        </p:nvSpPr>
        <p:spPr>
          <a:xfrm>
            <a:off x="93726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Statistics</a:t>
            </a:r>
            <a:endParaRPr lang="en-US" sz="1000" noProof="1"/>
          </a:p>
        </p:txBody>
      </p:sp>
      <p:sp>
        <p:nvSpPr>
          <p:cNvPr id="28" name="bar-6"/>
          <p:cNvSpPr/>
          <p:nvPr/>
        </p:nvSpPr>
        <p:spPr>
          <a:xfrm>
            <a:off x="10452100" y="4940300"/>
            <a:ext cx="546100" cy="3937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29" name="value-6"/>
          <p:cNvSpPr txBox="1"/>
          <p:nvPr/>
        </p:nvSpPr>
        <p:spPr>
          <a:xfrm>
            <a:off x="10452100" y="4648200"/>
            <a:ext cx="5461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F172A"/>
                </a:solidFill>
                <a:latin typeface="MiSans"/>
                <a:ea typeface="MiSans"/>
              </a:rPr>
              <a:t>1</a:t>
            </a:r>
            <a:endParaRPr lang="en-US" sz="1300" noProof="1"/>
          </a:p>
        </p:txBody>
      </p:sp>
      <p:sp>
        <p:nvSpPr>
          <p:cNvPr id="30" name="cat-6"/>
          <p:cNvSpPr txBox="1"/>
          <p:nvPr/>
        </p:nvSpPr>
        <p:spPr>
          <a:xfrm>
            <a:off x="10299700" y="5524500"/>
            <a:ext cx="86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Logs</a:t>
            </a:r>
            <a:endParaRPr lang="en-US" sz="1000" noProof="1"/>
          </a:p>
        </p:txBody>
      </p:sp>
      <p:sp>
        <p:nvSpPr>
          <p:cNvPr id="31" name="method"/>
          <p:cNvSpPr txBox="1"/>
          <p:nvPr/>
        </p:nvSpPr>
        <p:spPr>
          <a:xfrm>
            <a:off x="698500" y="4445000"/>
            <a:ext cx="3429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64748B"/>
                </a:solidFill>
                <a:latin typeface="MiSans"/>
                <a:ea typeface="MiSans"/>
              </a:rPr>
              <a:t>Cases grouped once
by primary function</a:t>
            </a:r>
            <a:endParaRPr lang="en-US" sz="1500" noProof="1"/>
          </a:p>
        </p:txBody>
      </p:sp>
      <p:sp>
        <p:nvSpPr>
          <p:cNvPr id="32" name="note"/>
          <p:cNvSpPr txBox="1"/>
          <p:nvPr/>
        </p:nvSpPr>
        <p:spPr>
          <a:xfrm>
            <a:off x="698500" y="59055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4748B"/>
                </a:solidFill>
                <a:latin typeface="MiSans"/>
                <a:ea typeface="MiSans"/>
              </a:rPr>
              <a:t>Reported result; remaining checks are listed on slide 14.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Leave quota test evidence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TESTING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13</a:t>
            </a:r>
            <a:endParaRPr lang="en-US" sz="1000" noProof="1"/>
          </a:p>
        </p:txBody>
      </p:sp>
      <p:pic>
        <p:nvPicPr>
          <p:cNvPr id="6" name="evidence"/>
          <p:cNvPicPr/>
          <p:nvPr/>
        </p:nvPicPr>
        <p:blipFill>
          <a:blip r:embed="rId2"/>
          <a:srcRect l="-643" r="-643"/>
          <a:stretch>
            <a:fillRect/>
          </a:stretch>
        </p:blipFill>
        <p:spPr>
          <a:xfrm>
            <a:off x="508000" y="1524000"/>
            <a:ext cx="8763000" cy="4508500"/>
          </a:xfrm>
          <a:prstGeom prst="rect">
            <a:avLst/>
          </a:prstGeom>
          <a:ln>
            <a:noFill/>
          </a:ln>
        </p:spPr>
      </p:pic>
      <p:sp>
        <p:nvSpPr>
          <p:cNvPr id="7" name="evidence-border"/>
          <p:cNvSpPr/>
          <p:nvPr/>
        </p:nvSpPr>
        <p:spPr>
          <a:xfrm>
            <a:off x="508000" y="1524000"/>
            <a:ext cx="8763000" cy="4508500"/>
          </a:xfrm>
          <a:prstGeom prst="rect">
            <a:avLst/>
          </a:prstGeom>
          <a:noFill/>
          <a:ln w="25400">
            <a:solidFill>
              <a:srgbClr val="4F46E5"/>
            </a:solidFill>
          </a:ln>
        </p:spPr>
      </p:sp>
      <p:sp>
        <p:nvSpPr>
          <p:cNvPr id="8" name="3"/>
          <p:cNvSpPr txBox="1"/>
          <p:nvPr/>
        </p:nvSpPr>
        <p:spPr>
          <a:xfrm>
            <a:off x="9652000" y="1841500"/>
            <a:ext cx="1651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8FAFC"/>
                </a:solidFill>
                <a:latin typeface="MiSans"/>
                <a:ea typeface="MiSans"/>
              </a:rPr>
              <a:t>3 normal</a:t>
            </a:r>
            <a:endParaRPr lang="en-US" sz="2800" noProof="1"/>
          </a:p>
        </p:txBody>
      </p:sp>
      <p:sp>
        <p:nvSpPr>
          <p:cNvPr id="9" name="5"/>
          <p:cNvSpPr txBox="1"/>
          <p:nvPr/>
        </p:nvSpPr>
        <p:spPr>
          <a:xfrm>
            <a:off x="9652000" y="285750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F8FAFC"/>
                </a:solidFill>
                <a:latin typeface="MiSans"/>
                <a:ea typeface="MiSans"/>
              </a:rPr>
              <a:t>5 maximum</a:t>
            </a:r>
            <a:endParaRPr lang="en-US" sz="2800" noProof="1"/>
          </a:p>
        </p:txBody>
      </p:sp>
      <p:sp>
        <p:nvSpPr>
          <p:cNvPr id="10" name="6"/>
          <p:cNvSpPr txBox="1"/>
          <p:nvPr/>
        </p:nvSpPr>
        <p:spPr>
          <a:xfrm>
            <a:off x="9652000" y="38735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38BDF8"/>
                </a:solidFill>
                <a:latin typeface="MiSans"/>
                <a:ea typeface="MiSans"/>
              </a:rPr>
              <a:t>6th blocked</a:t>
            </a:r>
            <a:endParaRPr lang="en-US" sz="2800" noProof="1"/>
          </a:p>
        </p:txBody>
      </p:sp>
      <p:sp>
        <p:nvSpPr>
          <p:cNvPr id="11" name="evidence-line"/>
          <p:cNvSpPr/>
          <p:nvPr/>
        </p:nvSpPr>
        <p:spPr>
          <a:xfrm>
            <a:off x="9652000" y="4826000"/>
            <a:ext cx="1651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2" name="evidence-caption"/>
          <p:cNvSpPr txBox="1"/>
          <p:nvPr/>
        </p:nvSpPr>
        <p:spPr>
          <a:xfrm>
            <a:off x="9652000" y="51054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noProof="1">
                <a:solidFill>
                  <a:srgbClr val="94A3B8"/>
                </a:solidFill>
                <a:latin typeface="MiSans"/>
                <a:ea typeface="MiSans"/>
              </a:rPr>
              <a:t>Observed boundary behaviour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Challenges and remaining checks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CHALLENGES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14</a:t>
            </a:r>
            <a:endParaRPr lang="en-US" sz="1000" noProof="1"/>
          </a:p>
        </p:txBody>
      </p:sp>
      <p:sp>
        <p:nvSpPr>
          <p:cNvPr id="6" name="challenge-n0"/>
          <p:cNvSpPr txBox="1"/>
          <p:nvPr/>
        </p:nvSpPr>
        <p:spPr>
          <a:xfrm>
            <a:off x="762000" y="1651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4F46E5"/>
                </a:solidFill>
                <a:latin typeface="MiSans"/>
                <a:ea typeface="MiSans"/>
              </a:rPr>
              <a:t>01</a:t>
            </a:r>
            <a:endParaRPr lang="en-US" sz="2200" noProof="1"/>
          </a:p>
        </p:txBody>
      </p:sp>
      <p:sp>
        <p:nvSpPr>
          <p:cNvPr id="7" name="challenge-t0"/>
          <p:cNvSpPr txBox="1"/>
          <p:nvPr/>
        </p:nvSpPr>
        <p:spPr>
          <a:xfrm>
            <a:off x="1714500" y="1651000"/>
            <a:ext cx="3365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F172A"/>
                </a:solidFill>
                <a:latin typeface="MiSans"/>
                <a:ea typeface="MiSans"/>
              </a:rPr>
              <a:t>Authentication</a:t>
            </a:r>
            <a:endParaRPr lang="en-US" sz="2200" noProof="1"/>
          </a:p>
        </p:txBody>
      </p:sp>
      <p:sp>
        <p:nvSpPr>
          <p:cNvPr id="8" name="challenge-b0"/>
          <p:cNvSpPr txBox="1"/>
          <p:nvPr/>
        </p:nvSpPr>
        <p:spPr>
          <a:xfrm>
            <a:off x="5334000" y="16764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Staff ID tests ≠ password verification</a:t>
            </a:r>
            <a:endParaRPr lang="en-US" sz="1600" noProof="1"/>
          </a:p>
        </p:txBody>
      </p:sp>
      <p:sp>
        <p:nvSpPr>
          <p:cNvPr id="9" name="challenge-line0"/>
          <p:cNvSpPr/>
          <p:nvPr/>
        </p:nvSpPr>
        <p:spPr>
          <a:xfrm>
            <a:off x="762000" y="2692400"/>
            <a:ext cx="1054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challenge-n1"/>
          <p:cNvSpPr txBox="1"/>
          <p:nvPr/>
        </p:nvSpPr>
        <p:spPr>
          <a:xfrm>
            <a:off x="762000" y="2984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4F46E5"/>
                </a:solidFill>
                <a:latin typeface="MiSans"/>
                <a:ea typeface="MiSans"/>
              </a:rPr>
              <a:t>02</a:t>
            </a:r>
            <a:endParaRPr lang="en-US" sz="2200" noProof="1"/>
          </a:p>
        </p:txBody>
      </p:sp>
      <p:sp>
        <p:nvSpPr>
          <p:cNvPr id="11" name="challenge-t1"/>
          <p:cNvSpPr txBox="1"/>
          <p:nvPr/>
        </p:nvSpPr>
        <p:spPr>
          <a:xfrm>
            <a:off x="1714500" y="2984500"/>
            <a:ext cx="3365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F172A"/>
                </a:solidFill>
                <a:latin typeface="MiSans"/>
                <a:ea typeface="MiSans"/>
              </a:rPr>
              <a:t>Quality targets</a:t>
            </a:r>
            <a:endParaRPr lang="en-US" sz="2200" noProof="1"/>
          </a:p>
        </p:txBody>
      </p:sp>
      <p:sp>
        <p:nvSpPr>
          <p:cNvPr id="12" name="challenge-b1"/>
          <p:cNvSpPr txBox="1"/>
          <p:nvPr/>
        </p:nvSpPr>
        <p:spPr>
          <a:xfrm>
            <a:off x="5334000" y="30099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Response time, concurrency and recovery still require verification</a:t>
            </a:r>
            <a:endParaRPr lang="en-US" sz="1600" noProof="1"/>
          </a:p>
        </p:txBody>
      </p:sp>
      <p:sp>
        <p:nvSpPr>
          <p:cNvPr id="13" name="challenge-line1"/>
          <p:cNvSpPr/>
          <p:nvPr/>
        </p:nvSpPr>
        <p:spPr>
          <a:xfrm>
            <a:off x="762000" y="4025900"/>
            <a:ext cx="1054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4" name="challenge-n2"/>
          <p:cNvSpPr txBox="1"/>
          <p:nvPr/>
        </p:nvSpPr>
        <p:spPr>
          <a:xfrm>
            <a:off x="762000" y="431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4F46E5"/>
                </a:solidFill>
                <a:latin typeface="MiSans"/>
                <a:ea typeface="MiSans"/>
              </a:rPr>
              <a:t>03</a:t>
            </a:r>
            <a:endParaRPr lang="en-US" sz="2200" noProof="1"/>
          </a:p>
        </p:txBody>
      </p:sp>
      <p:sp>
        <p:nvSpPr>
          <p:cNvPr id="15" name="challenge-t2"/>
          <p:cNvSpPr txBox="1"/>
          <p:nvPr/>
        </p:nvSpPr>
        <p:spPr>
          <a:xfrm>
            <a:off x="1714500" y="4318000"/>
            <a:ext cx="3365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F172A"/>
                </a:solidFill>
                <a:latin typeface="MiSans"/>
                <a:ea typeface="MiSans"/>
              </a:rPr>
              <a:t>Document alignment</a:t>
            </a:r>
            <a:endParaRPr lang="en-US" sz="2200" noProof="1"/>
          </a:p>
        </p:txBody>
      </p:sp>
      <p:sp>
        <p:nvSpPr>
          <p:cNvPr id="16" name="challenge-b2"/>
          <p:cNvSpPr txBox="1"/>
          <p:nvPr/>
        </p:nvSpPr>
        <p:spPr>
          <a:xfrm>
            <a:off x="5334000" y="4343400"/>
            <a:ext cx="5969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Scope and boundary rules must agree across URS, tests and product</a:t>
            </a:r>
            <a:endParaRPr lang="en-US" sz="1600" noProof="1"/>
          </a:p>
        </p:txBody>
      </p:sp>
      <p:sp>
        <p:nvSpPr>
          <p:cNvPr id="17" name="challenge-line2"/>
          <p:cNvSpPr/>
          <p:nvPr/>
        </p:nvSpPr>
        <p:spPr>
          <a:xfrm>
            <a:off x="762000" y="5359400"/>
            <a:ext cx="1054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verify-label"/>
          <p:cNvSpPr txBox="1"/>
          <p:nvPr/>
        </p:nvSpPr>
        <p:spPr>
          <a:xfrm>
            <a:off x="762000" y="58166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00" noProof="1">
                <a:solidFill>
                  <a:srgbClr val="4F46E5"/>
                </a:solidFill>
                <a:latin typeface="MiSans"/>
                <a:ea typeface="MiSans"/>
              </a:rPr>
              <a:t>CLEARLY SEPARATING REPORTED RESULTS FROM REMAINING CHECKS</a:t>
            </a:r>
            <a:endParaRPr lang="en-US" sz="11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Deviation from the original plan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DEVIATION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15</a:t>
            </a:r>
            <a:endParaRPr lang="en-US" sz="1000" noProof="1"/>
          </a:p>
        </p:txBody>
      </p:sp>
      <p:sp>
        <p:nvSpPr>
          <p:cNvPr id="6" name="deviation-t0"/>
          <p:cNvSpPr txBox="1"/>
          <p:nvPr/>
        </p:nvSpPr>
        <p:spPr>
          <a:xfrm>
            <a:off x="825500" y="1714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Scope update</a:t>
            </a:r>
            <a:endParaRPr lang="en-US" sz="2100" noProof="1"/>
          </a:p>
        </p:txBody>
      </p:sp>
      <p:sp>
        <p:nvSpPr>
          <p:cNvPr id="7" name="deviation-b0"/>
          <p:cNvSpPr txBox="1"/>
          <p:nvPr/>
        </p:nvSpPr>
        <p:spPr>
          <a:xfrm>
            <a:off x="4635500" y="17399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Leave and staff portal</a:t>
            </a:r>
            <a:endParaRPr lang="en-US" sz="1700" noProof="1"/>
          </a:p>
        </p:txBody>
      </p:sp>
      <p:sp>
        <p:nvSpPr>
          <p:cNvPr id="8" name="deviation-line0"/>
          <p:cNvSpPr/>
          <p:nvPr/>
        </p:nvSpPr>
        <p:spPr>
          <a:xfrm>
            <a:off x="825500" y="2578100"/>
            <a:ext cx="10287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9" name="deviation-n0"/>
          <p:cNvSpPr txBox="1"/>
          <p:nvPr/>
        </p:nvSpPr>
        <p:spPr>
          <a:xfrm>
            <a:off x="10604500" y="17145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38BDF8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10" name="deviation-t1"/>
          <p:cNvSpPr txBox="1"/>
          <p:nvPr/>
        </p:nvSpPr>
        <p:spPr>
          <a:xfrm>
            <a:off x="825500" y="2857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Status mismatch</a:t>
            </a:r>
            <a:endParaRPr lang="en-US" sz="2100" noProof="1"/>
          </a:p>
        </p:txBody>
      </p:sp>
      <p:sp>
        <p:nvSpPr>
          <p:cNvPr id="11" name="deviation-b1"/>
          <p:cNvSpPr txBox="1"/>
          <p:nvPr/>
        </p:nvSpPr>
        <p:spPr>
          <a:xfrm>
            <a:off x="4635500" y="28829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Board status vs export test</a:t>
            </a:r>
            <a:endParaRPr lang="en-US" sz="1700" noProof="1"/>
          </a:p>
        </p:txBody>
      </p:sp>
      <p:sp>
        <p:nvSpPr>
          <p:cNvPr id="12" name="deviation-line1"/>
          <p:cNvSpPr/>
          <p:nvPr/>
        </p:nvSpPr>
        <p:spPr>
          <a:xfrm>
            <a:off x="825500" y="3721100"/>
            <a:ext cx="10287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3" name="deviation-n1"/>
          <p:cNvSpPr txBox="1"/>
          <p:nvPr/>
        </p:nvSpPr>
        <p:spPr>
          <a:xfrm>
            <a:off x="10604500" y="28575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38BDF8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4" name="deviation-t2"/>
          <p:cNvSpPr txBox="1"/>
          <p:nvPr/>
        </p:nvSpPr>
        <p:spPr>
          <a:xfrm>
            <a:off x="825500" y="40005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F8FAFC"/>
                </a:solidFill>
                <a:latin typeface="MiSans"/>
                <a:ea typeface="MiSans"/>
              </a:rPr>
              <a:t>Actual schedule</a:t>
            </a:r>
            <a:endParaRPr lang="en-US" sz="2100" noProof="1"/>
          </a:p>
        </p:txBody>
      </p:sp>
      <p:sp>
        <p:nvSpPr>
          <p:cNvPr id="15" name="deviation-b2"/>
          <p:cNvSpPr txBox="1"/>
          <p:nvPr/>
        </p:nvSpPr>
        <p:spPr>
          <a:xfrm>
            <a:off x="4635500" y="40259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00" noProof="1">
                <a:solidFill>
                  <a:srgbClr val="94A3B8"/>
                </a:solidFill>
                <a:latin typeface="MiSans"/>
                <a:ea typeface="MiSans"/>
              </a:rPr>
              <a:t>Use the final project log as the reference</a:t>
            </a:r>
            <a:endParaRPr lang="en-US" sz="1700" noProof="1"/>
          </a:p>
        </p:txBody>
      </p:sp>
      <p:sp>
        <p:nvSpPr>
          <p:cNvPr id="16" name="deviation-line2"/>
          <p:cNvSpPr/>
          <p:nvPr/>
        </p:nvSpPr>
        <p:spPr>
          <a:xfrm>
            <a:off x="825500" y="4864100"/>
            <a:ext cx="102870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7" name="deviation-n2"/>
          <p:cNvSpPr txBox="1"/>
          <p:nvPr/>
        </p:nvSpPr>
        <p:spPr>
          <a:xfrm>
            <a:off x="10604500" y="4000500"/>
            <a:ext cx="444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b="1" noProof="1">
                <a:solidFill>
                  <a:srgbClr val="38BDF8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18" name="sync-band"/>
          <p:cNvSpPr/>
          <p:nvPr/>
        </p:nvSpPr>
        <p:spPr>
          <a:xfrm>
            <a:off x="762000" y="5486400"/>
            <a:ext cx="10668000" cy="6096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9" name="sync-text"/>
          <p:cNvSpPr txBox="1"/>
          <p:nvPr/>
        </p:nvSpPr>
        <p:spPr>
          <a:xfrm>
            <a:off x="1041400" y="5638800"/>
            <a:ext cx="100965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8FAFC"/>
                </a:solidFill>
                <a:latin typeface="MiSans"/>
                <a:ea typeface="MiSans"/>
              </a:rPr>
              <a:t>Keep URS, board, test report and presentation consistent</a:t>
            </a:r>
            <a:endParaRPr lang="en-US" sz="16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0F172A"/>
                </a:solidFill>
                <a:latin typeface="MiSans"/>
                <a:ea typeface="MiSans"/>
              </a:rPr>
              <a:t>Benefits and conclusion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4F46E5"/>
                </a:solidFill>
                <a:latin typeface="MiSans"/>
                <a:ea typeface="MiSans"/>
              </a:rPr>
              <a:t>CONCLUSION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4748B"/>
                </a:solidFill>
                <a:latin typeface="MiSans"/>
                <a:ea typeface="MiSans"/>
              </a:rPr>
              <a:t>Meiti Admin System · 16</a:t>
            </a:r>
            <a:endParaRPr lang="en-US" sz="1000" noProof="1"/>
          </a:p>
        </p:txBody>
      </p:sp>
      <p:sp>
        <p:nvSpPr>
          <p:cNvPr id="6" name="records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762000" y="17145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7" name="records"/>
          <p:cNvSpPr txBox="1"/>
          <p:nvPr/>
        </p:nvSpPr>
        <p:spPr>
          <a:xfrm>
            <a:off x="1524000" y="1651000"/>
            <a:ext cx="4953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0F172A"/>
                </a:solidFill>
                <a:latin typeface="MiSans"/>
                <a:ea typeface="MiSans"/>
              </a:rPr>
              <a:t>Central records</a:t>
            </a:r>
            <a:endParaRPr lang="en-US" sz="2500" noProof="1"/>
          </a:p>
        </p:txBody>
      </p:sp>
      <p:sp>
        <p:nvSpPr>
          <p:cNvPr id="8" name="records-sub"/>
          <p:cNvSpPr txBox="1"/>
          <p:nvPr/>
        </p:nvSpPr>
        <p:spPr>
          <a:xfrm>
            <a:off x="1524000" y="2247900"/>
            <a:ext cx="4953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One place for employee information, with less repeated checking.</a:t>
            </a:r>
            <a:endParaRPr lang="en-US" sz="1600" noProof="1"/>
          </a:p>
        </p:txBody>
      </p:sp>
      <p:sp>
        <p:nvSpPr>
          <p:cNvPr id="9" name="benefit-line1"/>
          <p:cNvSpPr/>
          <p:nvPr/>
        </p:nvSpPr>
        <p:spPr>
          <a:xfrm>
            <a:off x="762000" y="3175000"/>
            <a:ext cx="5461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schedule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eyJpY29uTmFtZSI6ImZhczpjYWxlbmRhci1kYXlzIn0</pptd:icon>
              </p:ext>
            </p:extLst>
          </p:nvPr>
        </p:nvSpPr>
        <p:spPr>
          <a:xfrm>
            <a:off x="762000" y="36195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0"/>
                </a:move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lose/>
                <a:moveTo>
                  <a:pt x="64" y="240"/>
                </a:moveTo>
                <a:lnTo>
                  <a:pt x="64" y="272"/>
                </a:lnTo>
                <a:cubicBezTo>
                  <a:pt x="64" y="281"/>
                  <a:pt x="71" y="288"/>
                  <a:pt x="80" y="288"/>
                </a:cubicBezTo>
                <a:lnTo>
                  <a:pt x="112" y="288"/>
                </a:lnTo>
                <a:cubicBezTo>
                  <a:pt x="121" y="288"/>
                  <a:pt x="128" y="281"/>
                  <a:pt x="128" y="272"/>
                </a:cubicBezTo>
                <a:lnTo>
                  <a:pt x="128" y="240"/>
                </a:lnTo>
                <a:cubicBezTo>
                  <a:pt x="128" y="231"/>
                  <a:pt x="121" y="224"/>
                  <a:pt x="112" y="224"/>
                </a:cubicBezTo>
                <a:lnTo>
                  <a:pt x="80" y="224"/>
                </a:lnTo>
                <a:cubicBezTo>
                  <a:pt x="71" y="224"/>
                  <a:pt x="64" y="231"/>
                  <a:pt x="64" y="240"/>
                </a:cubicBezTo>
                <a:close/>
                <a:moveTo>
                  <a:pt x="192" y="240"/>
                </a:moveTo>
                <a:lnTo>
                  <a:pt x="192" y="272"/>
                </a:lnTo>
                <a:cubicBezTo>
                  <a:pt x="192" y="281"/>
                  <a:pt x="199" y="288"/>
                  <a:pt x="208" y="288"/>
                </a:cubicBezTo>
                <a:lnTo>
                  <a:pt x="240" y="288"/>
                </a:lnTo>
                <a:cubicBezTo>
                  <a:pt x="249" y="288"/>
                  <a:pt x="256" y="281"/>
                  <a:pt x="256" y="272"/>
                </a:cubicBezTo>
                <a:lnTo>
                  <a:pt x="256" y="240"/>
                </a:lnTo>
                <a:cubicBezTo>
                  <a:pt x="256" y="231"/>
                  <a:pt x="249" y="224"/>
                  <a:pt x="240" y="224"/>
                </a:cubicBezTo>
                <a:lnTo>
                  <a:pt x="208" y="224"/>
                </a:lnTo>
                <a:cubicBezTo>
                  <a:pt x="199" y="224"/>
                  <a:pt x="192" y="231"/>
                  <a:pt x="192" y="240"/>
                </a:cubicBezTo>
                <a:close/>
                <a:moveTo>
                  <a:pt x="336" y="224"/>
                </a:moveTo>
                <a:cubicBezTo>
                  <a:pt x="327" y="224"/>
                  <a:pt x="320" y="231"/>
                  <a:pt x="320" y="240"/>
                </a:cubicBezTo>
                <a:lnTo>
                  <a:pt x="320" y="272"/>
                </a:lnTo>
                <a:cubicBezTo>
                  <a:pt x="320" y="281"/>
                  <a:pt x="327" y="288"/>
                  <a:pt x="336" y="288"/>
                </a:cubicBezTo>
                <a:lnTo>
                  <a:pt x="368" y="288"/>
                </a:lnTo>
                <a:cubicBezTo>
                  <a:pt x="377" y="288"/>
                  <a:pt x="384" y="281"/>
                  <a:pt x="384" y="272"/>
                </a:cubicBezTo>
                <a:lnTo>
                  <a:pt x="384" y="240"/>
                </a:lnTo>
                <a:cubicBezTo>
                  <a:pt x="384" y="231"/>
                  <a:pt x="377" y="224"/>
                  <a:pt x="368" y="224"/>
                </a:cubicBezTo>
                <a:lnTo>
                  <a:pt x="336" y="224"/>
                </a:lnTo>
                <a:close/>
                <a:moveTo>
                  <a:pt x="64" y="368"/>
                </a:move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112" y="416"/>
                </a:lnTo>
                <a:cubicBezTo>
                  <a:pt x="121" y="416"/>
                  <a:pt x="128" y="409"/>
                  <a:pt x="128" y="400"/>
                </a:cubicBezTo>
                <a:lnTo>
                  <a:pt x="128" y="368"/>
                </a:lnTo>
                <a:cubicBezTo>
                  <a:pt x="128" y="359"/>
                  <a:pt x="121" y="352"/>
                  <a:pt x="112" y="352"/>
                </a:cubicBezTo>
                <a:lnTo>
                  <a:pt x="80" y="352"/>
                </a:lnTo>
                <a:cubicBezTo>
                  <a:pt x="71" y="352"/>
                  <a:pt x="64" y="359"/>
                  <a:pt x="64" y="368"/>
                </a:cubicBezTo>
                <a:close/>
                <a:moveTo>
                  <a:pt x="208" y="352"/>
                </a:moveTo>
                <a:cubicBezTo>
                  <a:pt x="199" y="352"/>
                  <a:pt x="192" y="359"/>
                  <a:pt x="192" y="368"/>
                </a:cubicBezTo>
                <a:lnTo>
                  <a:pt x="192" y="400"/>
                </a:lnTo>
                <a:cubicBezTo>
                  <a:pt x="192" y="409"/>
                  <a:pt x="199" y="416"/>
                  <a:pt x="208" y="416"/>
                </a:cubicBezTo>
                <a:lnTo>
                  <a:pt x="240" y="416"/>
                </a:lnTo>
                <a:cubicBezTo>
                  <a:pt x="249" y="416"/>
                  <a:pt x="256" y="409"/>
                  <a:pt x="256" y="400"/>
                </a:cubicBezTo>
                <a:lnTo>
                  <a:pt x="256" y="368"/>
                </a:lnTo>
                <a:cubicBezTo>
                  <a:pt x="256" y="359"/>
                  <a:pt x="249" y="352"/>
                  <a:pt x="240" y="352"/>
                </a:cubicBezTo>
                <a:lnTo>
                  <a:pt x="208" y="352"/>
                </a:lnTo>
                <a:close/>
                <a:moveTo>
                  <a:pt x="320" y="368"/>
                </a:moveTo>
                <a:lnTo>
                  <a:pt x="320" y="400"/>
                </a:lnTo>
                <a:cubicBezTo>
                  <a:pt x="320" y="409"/>
                  <a:pt x="327" y="416"/>
                  <a:pt x="336" y="416"/>
                </a:cubicBezTo>
                <a:lnTo>
                  <a:pt x="368" y="416"/>
                </a:lnTo>
                <a:cubicBezTo>
                  <a:pt x="377" y="416"/>
                  <a:pt x="384" y="409"/>
                  <a:pt x="384" y="400"/>
                </a:cubicBezTo>
                <a:lnTo>
                  <a:pt x="384" y="368"/>
                </a:lnTo>
                <a:cubicBezTo>
                  <a:pt x="384" y="359"/>
                  <a:pt x="377" y="352"/>
                  <a:pt x="368" y="352"/>
                </a:cubicBezTo>
                <a:lnTo>
                  <a:pt x="336" y="352"/>
                </a:lnTo>
                <a:cubicBezTo>
                  <a:pt x="327" y="352"/>
                  <a:pt x="320" y="359"/>
                  <a:pt x="320" y="368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</p:sp>
      <p:sp>
        <p:nvSpPr>
          <p:cNvPr id="11" name="schedule"/>
          <p:cNvSpPr txBox="1"/>
          <p:nvPr/>
        </p:nvSpPr>
        <p:spPr>
          <a:xfrm>
            <a:off x="1524000" y="3556000"/>
            <a:ext cx="4953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0F172A"/>
                </a:solidFill>
                <a:latin typeface="MiSans"/>
                <a:ea typeface="MiSans"/>
              </a:rPr>
              <a:t>Clear schedules</a:t>
            </a:r>
            <a:endParaRPr lang="en-US" sz="2500" noProof="1"/>
          </a:p>
        </p:txBody>
      </p:sp>
      <p:sp>
        <p:nvSpPr>
          <p:cNvPr id="12" name="schedule-sub"/>
          <p:cNvSpPr txBox="1"/>
          <p:nvPr/>
        </p:nvSpPr>
        <p:spPr>
          <a:xfrm>
            <a:off x="1524000" y="41529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64748B"/>
                </a:solidFill>
                <a:latin typeface="MiSans"/>
                <a:ea typeface="MiSans"/>
              </a:rPr>
              <a:t>Conflict checks and weekly views make changes easier to follow.</a:t>
            </a:r>
            <a:endParaRPr lang="en-US" sz="1600" noProof="1"/>
          </a:p>
        </p:txBody>
      </p:sp>
      <p:sp>
        <p:nvSpPr>
          <p:cNvPr id="13" name="baseline"/>
          <p:cNvSpPr/>
          <p:nvPr/>
        </p:nvSpPr>
        <p:spPr>
          <a:xfrm>
            <a:off x="7112000" y="1651000"/>
            <a:ext cx="4445000" cy="34925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4" name="baseline-label"/>
          <p:cNvSpPr txBox="1"/>
          <p:nvPr/>
        </p:nvSpPr>
        <p:spPr>
          <a:xfrm>
            <a:off x="7493000" y="20066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kern="0" spc="140" noProof="1">
                <a:solidFill>
                  <a:srgbClr val="F8FAFC"/>
                </a:solidFill>
                <a:latin typeface="MiSans"/>
                <a:ea typeface="MiSans"/>
              </a:rPr>
              <a:t>REPORTED BASELINE</a:t>
            </a:r>
            <a:endParaRPr lang="en-US" sz="1100" noProof="1"/>
          </a:p>
        </p:txBody>
      </p:sp>
      <p:sp>
        <p:nvSpPr>
          <p:cNvPr id="15" name="baseline-num"/>
          <p:cNvSpPr txBox="1"/>
          <p:nvPr/>
        </p:nvSpPr>
        <p:spPr>
          <a:xfrm>
            <a:off x="7493000" y="2603500"/>
            <a:ext cx="3175000" cy="825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8FAFC"/>
                </a:solidFill>
                <a:latin typeface="MiSans"/>
                <a:ea typeface="MiSans"/>
              </a:rPr>
              <a:t>28 passed</a:t>
            </a:r>
            <a:endParaRPr lang="en-US" sz="4000" noProof="1"/>
          </a:p>
        </p:txBody>
      </p:sp>
      <p:sp>
        <p:nvSpPr>
          <p:cNvPr id="16" name="baseline-sub"/>
          <p:cNvSpPr txBox="1"/>
          <p:nvPr/>
        </p:nvSpPr>
        <p:spPr>
          <a:xfrm>
            <a:off x="7493000" y="3556000"/>
            <a:ext cx="317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800" noProof="1">
                <a:solidFill>
                  <a:srgbClr val="F8FAFC"/>
                </a:solidFill>
                <a:latin typeface="MiSans"/>
                <a:ea typeface="MiSans"/>
              </a:rPr>
              <a:t>test cases
with remaining checks</a:t>
            </a:r>
            <a:endParaRPr lang="en-US" sz="1800" noProof="1"/>
          </a:p>
        </p:txBody>
      </p:sp>
      <p:sp>
        <p:nvSpPr>
          <p:cNvPr id="17" name="conclusion"/>
          <p:cNvSpPr txBox="1"/>
          <p:nvPr/>
        </p:nvSpPr>
        <p:spPr>
          <a:xfrm>
            <a:off x="762000" y="5715000"/>
            <a:ext cx="1054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0F172A"/>
                </a:solidFill>
                <a:latin typeface="MiSans"/>
                <a:ea typeface="MiSans"/>
              </a:rPr>
              <a:t>A more reliable baseline for employee administration.</a:t>
            </a:r>
            <a:endParaRPr lang="en-US" sz="1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100" b="1" noProof="1">
                <a:solidFill>
                  <a:srgbClr val="F8FAFC"/>
                </a:solidFill>
                <a:latin typeface="MiSans"/>
                <a:ea typeface="MiSans"/>
              </a:rPr>
              <a:t>Reflection</a:t>
            </a:r>
            <a:endParaRPr lang="en-US" sz="3100" noProof="1"/>
          </a:p>
        </p:txBody>
      </p:sp>
      <p:sp>
        <p:nvSpPr>
          <p:cNvPr id="3" name="title-rule"/>
          <p:cNvSpPr/>
          <p:nvPr/>
        </p:nvSpPr>
        <p:spPr>
          <a:xfrm>
            <a:off x="609600" y="1130300"/>
            <a:ext cx="7366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9461500" y="482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b="1" kern="0" spc="150" noProof="1">
                <a:solidFill>
                  <a:srgbClr val="38BDF8"/>
                </a:solidFill>
                <a:latin typeface="MiSans"/>
                <a:ea typeface="MiSans"/>
              </a:rPr>
              <a:t>REFLECTION</a:t>
            </a:r>
            <a:endParaRPr lang="en-US" sz="1100" noProof="1"/>
          </a:p>
        </p:txBody>
      </p:sp>
      <p:sp>
        <p:nvSpPr>
          <p:cNvPr id="5" name="footer"/>
          <p:cNvSpPr txBox="1"/>
          <p:nvPr/>
        </p:nvSpPr>
        <p:spPr>
          <a:xfrm>
            <a:off x="9334500" y="6451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4A3B8"/>
                </a:solidFill>
                <a:latin typeface="MiSans"/>
                <a:ea typeface="MiSans"/>
              </a:rPr>
              <a:t>Meiti Admin System · 17</a:t>
            </a:r>
            <a:endParaRPr lang="en-US" sz="1000" noProof="1"/>
          </a:p>
        </p:txBody>
      </p:sp>
      <p:sp>
        <p:nvSpPr>
          <p:cNvPr id="6" name="reflect-n0"/>
          <p:cNvSpPr txBox="1"/>
          <p:nvPr/>
        </p:nvSpPr>
        <p:spPr>
          <a:xfrm>
            <a:off x="825500" y="15240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38BDF8"/>
                </a:solidFill>
                <a:latin typeface="MiSans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7" name="reflect-t0"/>
          <p:cNvSpPr txBox="1"/>
          <p:nvPr/>
        </p:nvSpPr>
        <p:spPr>
          <a:xfrm>
            <a:off x="1587500" y="152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F8FAFC"/>
                </a:solidFill>
                <a:latin typeface="MiSans"/>
                <a:ea typeface="MiSans"/>
              </a:rPr>
              <a:t>Confirm earlier</a:t>
            </a:r>
            <a:endParaRPr lang="en-US" sz="2200" noProof="1"/>
          </a:p>
        </p:txBody>
      </p:sp>
      <p:sp>
        <p:nvSpPr>
          <p:cNvPr id="8" name="reflect-b0"/>
          <p:cNvSpPr txBox="1"/>
          <p:nvPr/>
        </p:nvSpPr>
        <p:spPr>
          <a:xfrm>
            <a:off x="5842000" y="15494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94A3B8"/>
                </a:solidFill>
                <a:latin typeface="MiSans"/>
                <a:ea typeface="MiSans"/>
              </a:rPr>
              <a:t>Scope and business rules</a:t>
            </a:r>
            <a:endParaRPr lang="en-US" sz="1600" noProof="1"/>
          </a:p>
        </p:txBody>
      </p:sp>
      <p:sp>
        <p:nvSpPr>
          <p:cNvPr id="9" name="reflect-line0"/>
          <p:cNvSpPr/>
          <p:nvPr/>
        </p:nvSpPr>
        <p:spPr>
          <a:xfrm>
            <a:off x="825500" y="2286000"/>
            <a:ext cx="10350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" name="reflect-n1"/>
          <p:cNvSpPr txBox="1"/>
          <p:nvPr/>
        </p:nvSpPr>
        <p:spPr>
          <a:xfrm>
            <a:off x="825500" y="25654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38BDF8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1" name="reflect-t1"/>
          <p:cNvSpPr txBox="1"/>
          <p:nvPr/>
        </p:nvSpPr>
        <p:spPr>
          <a:xfrm>
            <a:off x="1587500" y="2565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F8FAFC"/>
                </a:solidFill>
                <a:latin typeface="MiSans"/>
                <a:ea typeface="MiSans"/>
              </a:rPr>
              <a:t>Link evidence</a:t>
            </a:r>
            <a:endParaRPr lang="en-US" sz="2200" noProof="1"/>
          </a:p>
        </p:txBody>
      </p:sp>
      <p:sp>
        <p:nvSpPr>
          <p:cNvPr id="12" name="reflect-b1"/>
          <p:cNvSpPr txBox="1"/>
          <p:nvPr/>
        </p:nvSpPr>
        <p:spPr>
          <a:xfrm>
            <a:off x="5842000" y="25908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94A3B8"/>
                </a:solidFill>
                <a:latin typeface="MiSans"/>
                <a:ea typeface="MiSans"/>
              </a:rPr>
              <a:t>Requirements and tests</a:t>
            </a:r>
            <a:endParaRPr lang="en-US" sz="1600" noProof="1"/>
          </a:p>
        </p:txBody>
      </p:sp>
      <p:sp>
        <p:nvSpPr>
          <p:cNvPr id="13" name="reflect-line1"/>
          <p:cNvSpPr/>
          <p:nvPr/>
        </p:nvSpPr>
        <p:spPr>
          <a:xfrm>
            <a:off x="825500" y="3327400"/>
            <a:ext cx="10350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4" name="reflect-n2"/>
          <p:cNvSpPr txBox="1"/>
          <p:nvPr/>
        </p:nvSpPr>
        <p:spPr>
          <a:xfrm>
            <a:off x="825500" y="3606800"/>
            <a:ext cx="57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38BDF8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5" name="reflect-t2"/>
          <p:cNvSpPr txBox="1"/>
          <p:nvPr/>
        </p:nvSpPr>
        <p:spPr>
          <a:xfrm>
            <a:off x="1587500" y="3606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F8FAFC"/>
                </a:solidFill>
                <a:latin typeface="MiSans"/>
                <a:ea typeface="MiSans"/>
              </a:rPr>
              <a:t>Use real examples</a:t>
            </a:r>
            <a:endParaRPr lang="en-US" sz="2200" noProof="1"/>
          </a:p>
        </p:txBody>
      </p:sp>
      <p:sp>
        <p:nvSpPr>
          <p:cNvPr id="16" name="reflect-b2"/>
          <p:cNvSpPr txBox="1"/>
          <p:nvPr/>
        </p:nvSpPr>
        <p:spPr>
          <a:xfrm>
            <a:off x="5842000" y="36322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noProof="1">
                <a:solidFill>
                  <a:srgbClr val="94A3B8"/>
                </a:solidFill>
                <a:latin typeface="MiSans"/>
                <a:ea typeface="MiSans"/>
              </a:rPr>
              <a:t>Explain what the team would do differently</a:t>
            </a:r>
            <a:endParaRPr lang="en-US" sz="1600" noProof="1"/>
          </a:p>
        </p:txBody>
      </p:sp>
      <p:sp>
        <p:nvSpPr>
          <p:cNvPr id="17" name="reflect-line2"/>
          <p:cNvSpPr/>
          <p:nvPr/>
        </p:nvSpPr>
        <p:spPr>
          <a:xfrm>
            <a:off x="825500" y="4368800"/>
            <a:ext cx="103505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8" name="thanks"/>
          <p:cNvSpPr txBox="1"/>
          <p:nvPr/>
        </p:nvSpPr>
        <p:spPr>
          <a:xfrm>
            <a:off x="762000" y="5143500"/>
            <a:ext cx="6350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38BDF8"/>
                </a:solidFill>
                <a:latin typeface="MiSans"/>
                <a:ea typeface="MiSans"/>
              </a:rPr>
              <a:t>Thank you · Questions</a:t>
            </a:r>
            <a:endParaRPr lang="en-US" sz="3000" noProof="1"/>
          </a:p>
        </p:txBody>
      </p:sp>
      <p:sp>
        <p:nvSpPr>
          <p:cNvPr id="19" name="closing"/>
          <p:cNvSpPr txBox="1"/>
          <p:nvPr/>
        </p:nvSpPr>
        <p:spPr>
          <a:xfrm>
            <a:off x="762000" y="5842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94A3B8"/>
                </a:solidFill>
                <a:latin typeface="MiSans"/>
                <a:ea typeface="MiSans"/>
              </a:rPr>
              <a:t>Meiti Shangcheng · Final Presentation</a:t>
            </a:r>
            <a:endParaRPr lang="en-US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660</Words>
  <Application>Microsoft Office PowerPoint</Application>
  <PresentationFormat>宽屏</PresentationFormat>
  <Paragraphs>224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9" baseType="lpstr">
      <vt:lpstr>MiSans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Meiti Final Presentation</dc:title>
  <cp:lastModifiedBy>怡洁 王</cp:lastModifiedBy>
  <cp:revision>3</cp:revision>
  <dcterms:modified xsi:type="dcterms:W3CDTF">2026-10-28T00:39:14Z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